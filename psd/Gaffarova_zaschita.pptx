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8"/>
  </p:notesMasterIdLst>
  <p:sldIdLst>
    <p:sldId id="267" r:id="rId2"/>
    <p:sldId id="268" r:id="rId3"/>
    <p:sldId id="269" r:id="rId4"/>
    <p:sldId id="270" r:id="rId5"/>
    <p:sldId id="271" r:id="rId6"/>
    <p:sldId id="282" r:id="rId7"/>
    <p:sldId id="283" r:id="rId8"/>
    <p:sldId id="273" r:id="rId9"/>
    <p:sldId id="276" r:id="rId10"/>
    <p:sldId id="275" r:id="rId11"/>
    <p:sldId id="277" r:id="rId12"/>
    <p:sldId id="274" r:id="rId13"/>
    <p:sldId id="280" r:id="rId14"/>
    <p:sldId id="281" r:id="rId15"/>
    <p:sldId id="272" r:id="rId16"/>
    <p:sldId id="278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AD18F"/>
    <a:srgbClr val="70AD46"/>
    <a:srgbClr val="82A1D8"/>
    <a:srgbClr val="4473C5"/>
    <a:srgbClr val="95DBD8"/>
    <a:srgbClr val="43BEB9"/>
    <a:srgbClr val="85D19B"/>
    <a:srgbClr val="45B664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5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109FA8-A820-4DE1-84BC-DA79ADD47769}" type="doc">
      <dgm:prSet loTypeId="urn:microsoft.com/office/officeart/2005/8/layout/process1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F31BB4A3-642B-41A5-9D84-12EB5A9B0E32}">
      <dgm:prSet custT="1"/>
      <dgm:spPr/>
      <dgm:t>
        <a:bodyPr/>
        <a:lstStyle/>
        <a:p>
          <a:r>
            <a:rPr lang="ru-RU" sz="1100" b="1" dirty="0"/>
            <a:t>Подготовка сырья</a:t>
          </a:r>
        </a:p>
      </dgm:t>
    </dgm:pt>
    <dgm:pt modelId="{3B1BC5DA-1BE2-46FA-BA15-4FAD5F8D98B0}" type="parTrans" cxnId="{653FD3A2-DB81-43C4-AD92-4375203F3A47}">
      <dgm:prSet/>
      <dgm:spPr/>
      <dgm:t>
        <a:bodyPr/>
        <a:lstStyle/>
        <a:p>
          <a:endParaRPr lang="ru-RU"/>
        </a:p>
      </dgm:t>
    </dgm:pt>
    <dgm:pt modelId="{A3B26D6B-4CA6-4FD0-9A2D-C0BEFF590F3E}" type="sibTrans" cxnId="{653FD3A2-DB81-43C4-AD92-4375203F3A47}">
      <dgm:prSet/>
      <dgm:spPr/>
      <dgm:t>
        <a:bodyPr/>
        <a:lstStyle/>
        <a:p>
          <a:endParaRPr lang="ru-RU"/>
        </a:p>
      </dgm:t>
    </dgm:pt>
    <dgm:pt modelId="{8AB997E7-8382-4795-AADC-8BAE6FD330B2}">
      <dgm:prSet custT="1"/>
      <dgm:spPr/>
      <dgm:t>
        <a:bodyPr/>
        <a:lstStyle/>
        <a:p>
          <a:r>
            <a:rPr lang="ru-RU" sz="1100" b="1" dirty="0"/>
            <a:t>Измельчение на измельчителе </a:t>
          </a:r>
          <a:r>
            <a:rPr lang="en-US" sz="1100" b="1" dirty="0"/>
            <a:t>TIRBIT-800Y</a:t>
          </a:r>
          <a:endParaRPr lang="ru-RU" sz="1100" b="1" dirty="0"/>
        </a:p>
      </dgm:t>
    </dgm:pt>
    <dgm:pt modelId="{491BDD41-D3D2-4A3E-B2B1-D078D493120F}" type="parTrans" cxnId="{15658AB1-1E3C-4CE5-860F-86FB2B536B62}">
      <dgm:prSet/>
      <dgm:spPr/>
      <dgm:t>
        <a:bodyPr/>
        <a:lstStyle/>
        <a:p>
          <a:endParaRPr lang="ru-RU"/>
        </a:p>
      </dgm:t>
    </dgm:pt>
    <dgm:pt modelId="{E229C664-1DDD-462D-A9FC-4E1CCFBCE0D0}" type="sibTrans" cxnId="{15658AB1-1E3C-4CE5-860F-86FB2B536B62}">
      <dgm:prSet/>
      <dgm:spPr/>
      <dgm:t>
        <a:bodyPr/>
        <a:lstStyle/>
        <a:p>
          <a:endParaRPr lang="ru-RU"/>
        </a:p>
      </dgm:t>
    </dgm:pt>
    <dgm:pt modelId="{60CFCC98-C5D9-4476-948F-7A6F4F9EE6DE}">
      <dgm:prSet custT="1"/>
      <dgm:spPr/>
      <dgm:t>
        <a:bodyPr/>
        <a:lstStyle/>
        <a:p>
          <a:r>
            <a:rPr lang="ru-RU" sz="1100" b="1" dirty="0"/>
            <a:t>Смешивание компонентов</a:t>
          </a:r>
        </a:p>
      </dgm:t>
    </dgm:pt>
    <dgm:pt modelId="{18F169AA-9094-4CE1-BFD8-E909FBC482C8}" type="parTrans" cxnId="{5B11B8A0-DCC7-44C8-8029-0DD4D28129EA}">
      <dgm:prSet/>
      <dgm:spPr/>
      <dgm:t>
        <a:bodyPr/>
        <a:lstStyle/>
        <a:p>
          <a:endParaRPr lang="ru-RU"/>
        </a:p>
      </dgm:t>
    </dgm:pt>
    <dgm:pt modelId="{C2AEA7B5-DA71-43FD-AE55-7ECC20BC9F5B}" type="sibTrans" cxnId="{5B11B8A0-DCC7-44C8-8029-0DD4D28129EA}">
      <dgm:prSet/>
      <dgm:spPr/>
      <dgm:t>
        <a:bodyPr/>
        <a:lstStyle/>
        <a:p>
          <a:endParaRPr lang="ru-RU"/>
        </a:p>
      </dgm:t>
    </dgm:pt>
    <dgm:pt modelId="{0D297AEC-3543-4B6A-BF7A-B9554EC1E471}">
      <dgm:prSet custT="1"/>
      <dgm:spPr/>
      <dgm:t>
        <a:bodyPr/>
        <a:lstStyle/>
        <a:p>
          <a:r>
            <a:rPr lang="ru-RU" sz="1100" b="1" dirty="0"/>
            <a:t>Гранулирование на </a:t>
          </a:r>
          <a:r>
            <a:rPr lang="ru-RU" sz="1100" b="1" dirty="0" err="1"/>
            <a:t>грануляторе</a:t>
          </a:r>
          <a:r>
            <a:rPr lang="ru-RU" sz="1100" b="1" dirty="0"/>
            <a:t> </a:t>
          </a:r>
          <a:r>
            <a:rPr lang="en-US" sz="1100" b="1" dirty="0"/>
            <a:t>ZLSP-120</a:t>
          </a:r>
          <a:endParaRPr lang="ru-RU" sz="1100" b="1" dirty="0"/>
        </a:p>
      </dgm:t>
    </dgm:pt>
    <dgm:pt modelId="{3FA80059-5FFE-4AF7-8CC5-F1BFCB60F8DD}" type="parTrans" cxnId="{CAFD2C81-97CF-4172-8060-B68C4F986FF4}">
      <dgm:prSet/>
      <dgm:spPr/>
      <dgm:t>
        <a:bodyPr/>
        <a:lstStyle/>
        <a:p>
          <a:endParaRPr lang="ru-RU"/>
        </a:p>
      </dgm:t>
    </dgm:pt>
    <dgm:pt modelId="{F676EE13-D2BB-4207-8201-19C624BE2389}" type="sibTrans" cxnId="{CAFD2C81-97CF-4172-8060-B68C4F986FF4}">
      <dgm:prSet/>
      <dgm:spPr/>
      <dgm:t>
        <a:bodyPr/>
        <a:lstStyle/>
        <a:p>
          <a:endParaRPr lang="ru-RU"/>
        </a:p>
      </dgm:t>
    </dgm:pt>
    <dgm:pt modelId="{C0C6383C-32FB-4014-9388-3E67A1E64DAA}">
      <dgm:prSet custT="1"/>
      <dgm:spPr/>
      <dgm:t>
        <a:bodyPr/>
        <a:lstStyle/>
        <a:p>
          <a:r>
            <a:rPr lang="ru-RU" sz="1100" b="1" dirty="0"/>
            <a:t>Сушка при комнатной </a:t>
          </a:r>
          <a:r>
            <a:rPr lang="en-US" sz="1100" b="1" dirty="0"/>
            <a:t>t</a:t>
          </a:r>
          <a:endParaRPr lang="ru-RU" sz="1100" b="1" dirty="0"/>
        </a:p>
      </dgm:t>
    </dgm:pt>
    <dgm:pt modelId="{7D981488-2182-4DEE-B8BF-B6374537E7C6}" type="parTrans" cxnId="{4C01BCF8-126B-4EA2-A0E2-1CC0D0A16AD4}">
      <dgm:prSet/>
      <dgm:spPr/>
      <dgm:t>
        <a:bodyPr/>
        <a:lstStyle/>
        <a:p>
          <a:endParaRPr lang="ru-RU"/>
        </a:p>
      </dgm:t>
    </dgm:pt>
    <dgm:pt modelId="{ECC8FD43-049C-4B2A-B8C6-9A16207C493E}" type="sibTrans" cxnId="{4C01BCF8-126B-4EA2-A0E2-1CC0D0A16AD4}">
      <dgm:prSet/>
      <dgm:spPr/>
      <dgm:t>
        <a:bodyPr/>
        <a:lstStyle/>
        <a:p>
          <a:endParaRPr lang="ru-RU"/>
        </a:p>
      </dgm:t>
    </dgm:pt>
    <dgm:pt modelId="{0BC3C163-AB2E-4808-A712-63FA5CB7427A}">
      <dgm:prSet custT="1"/>
      <dgm:spPr/>
      <dgm:t>
        <a:bodyPr/>
        <a:lstStyle/>
        <a:p>
          <a:r>
            <a:rPr lang="ru-RU" sz="1100" b="1" dirty="0"/>
            <a:t>Обогащение пробиотиком при </a:t>
          </a:r>
          <a:r>
            <a:rPr lang="en-US" sz="1100" b="1" dirty="0"/>
            <a:t>t 25-30</a:t>
          </a:r>
          <a:r>
            <a: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°</a:t>
          </a:r>
          <a:endParaRPr lang="ru-RU" sz="1100" b="1" dirty="0"/>
        </a:p>
      </dgm:t>
    </dgm:pt>
    <dgm:pt modelId="{65EE7EBB-A04A-4263-BD78-7FA7C0E0CAFE}" type="parTrans" cxnId="{B114C734-D071-40BB-A7AF-D20D2156FC80}">
      <dgm:prSet/>
      <dgm:spPr/>
      <dgm:t>
        <a:bodyPr/>
        <a:lstStyle/>
        <a:p>
          <a:endParaRPr lang="ru-RU"/>
        </a:p>
      </dgm:t>
    </dgm:pt>
    <dgm:pt modelId="{D2417335-34B8-4F66-B203-23F91256AF80}" type="sibTrans" cxnId="{B114C734-D071-40BB-A7AF-D20D2156FC80}">
      <dgm:prSet/>
      <dgm:spPr/>
      <dgm:t>
        <a:bodyPr/>
        <a:lstStyle/>
        <a:p>
          <a:endParaRPr lang="ru-RU"/>
        </a:p>
      </dgm:t>
    </dgm:pt>
    <dgm:pt modelId="{FEFDD787-6A82-410F-A355-25FD0D2611CC}">
      <dgm:prSet custT="1"/>
      <dgm:spPr/>
      <dgm:t>
        <a:bodyPr/>
        <a:lstStyle/>
        <a:p>
          <a:r>
            <a:rPr lang="ru-RU" sz="1100" b="1" dirty="0"/>
            <a:t>Сушка при комнатной </a:t>
          </a:r>
          <a:r>
            <a:rPr lang="en-US" sz="1100" b="1" dirty="0"/>
            <a:t>t</a:t>
          </a:r>
          <a:endParaRPr lang="ru-RU" sz="1100" b="1" dirty="0"/>
        </a:p>
      </dgm:t>
    </dgm:pt>
    <dgm:pt modelId="{69766FDA-313B-448A-B653-6BB0612D6784}" type="parTrans" cxnId="{0423FE77-5368-472C-B345-5B7CF70C068D}">
      <dgm:prSet/>
      <dgm:spPr/>
      <dgm:t>
        <a:bodyPr/>
        <a:lstStyle/>
        <a:p>
          <a:endParaRPr lang="ru-RU"/>
        </a:p>
      </dgm:t>
    </dgm:pt>
    <dgm:pt modelId="{22D4F97A-D7B7-40BF-8121-29E6AC595B0F}" type="sibTrans" cxnId="{0423FE77-5368-472C-B345-5B7CF70C068D}">
      <dgm:prSet/>
      <dgm:spPr/>
      <dgm:t>
        <a:bodyPr/>
        <a:lstStyle/>
        <a:p>
          <a:endParaRPr lang="ru-RU"/>
        </a:p>
      </dgm:t>
    </dgm:pt>
    <dgm:pt modelId="{244AE67F-9EB4-4EB1-B9F1-E6CF83D8908C}">
      <dgm:prSet custT="1"/>
      <dgm:spPr/>
      <dgm:t>
        <a:bodyPr/>
        <a:lstStyle/>
        <a:p>
          <a:r>
            <a:rPr lang="ru-RU" sz="1100" b="1" dirty="0"/>
            <a:t>Упаковка</a:t>
          </a:r>
        </a:p>
      </dgm:t>
    </dgm:pt>
    <dgm:pt modelId="{66C7D83C-DF50-4BEA-85FE-C2DB74C867C2}" type="parTrans" cxnId="{A14BA9FE-33A2-44F9-AE22-C498CF2E5A15}">
      <dgm:prSet/>
      <dgm:spPr/>
      <dgm:t>
        <a:bodyPr/>
        <a:lstStyle/>
        <a:p>
          <a:endParaRPr lang="ru-RU"/>
        </a:p>
      </dgm:t>
    </dgm:pt>
    <dgm:pt modelId="{08D5FABF-0B03-4F6F-8014-1BEDA51B929E}" type="sibTrans" cxnId="{A14BA9FE-33A2-44F9-AE22-C498CF2E5A15}">
      <dgm:prSet/>
      <dgm:spPr/>
      <dgm:t>
        <a:bodyPr/>
        <a:lstStyle/>
        <a:p>
          <a:endParaRPr lang="ru-RU"/>
        </a:p>
      </dgm:t>
    </dgm:pt>
    <dgm:pt modelId="{2B48854B-00CF-43FC-B586-76314F667219}" type="pres">
      <dgm:prSet presAssocID="{6D109FA8-A820-4DE1-84BC-DA79ADD47769}" presName="Name0" presStyleCnt="0">
        <dgm:presLayoutVars>
          <dgm:dir/>
          <dgm:resizeHandles val="exact"/>
        </dgm:presLayoutVars>
      </dgm:prSet>
      <dgm:spPr/>
    </dgm:pt>
    <dgm:pt modelId="{E11E4A3F-EC60-4F29-8689-0E8CA579101E}" type="pres">
      <dgm:prSet presAssocID="{F31BB4A3-642B-41A5-9D84-12EB5A9B0E32}" presName="node" presStyleLbl="node1" presStyleIdx="0" presStyleCnt="8">
        <dgm:presLayoutVars>
          <dgm:bulletEnabled val="1"/>
        </dgm:presLayoutVars>
      </dgm:prSet>
      <dgm:spPr/>
    </dgm:pt>
    <dgm:pt modelId="{D8292AA8-27C9-47B6-BA89-5B9E502B186C}" type="pres">
      <dgm:prSet presAssocID="{A3B26D6B-4CA6-4FD0-9A2D-C0BEFF590F3E}" presName="sibTrans" presStyleLbl="sibTrans2D1" presStyleIdx="0" presStyleCnt="7"/>
      <dgm:spPr/>
    </dgm:pt>
    <dgm:pt modelId="{A2DD90D0-88E3-44CE-BCC8-177D46FABF90}" type="pres">
      <dgm:prSet presAssocID="{A3B26D6B-4CA6-4FD0-9A2D-C0BEFF590F3E}" presName="connectorText" presStyleLbl="sibTrans2D1" presStyleIdx="0" presStyleCnt="7"/>
      <dgm:spPr/>
    </dgm:pt>
    <dgm:pt modelId="{7C64308A-78B6-4AAB-9DC1-BCD7F1172536}" type="pres">
      <dgm:prSet presAssocID="{8AB997E7-8382-4795-AADC-8BAE6FD330B2}" presName="node" presStyleLbl="node1" presStyleIdx="1" presStyleCnt="8">
        <dgm:presLayoutVars>
          <dgm:bulletEnabled val="1"/>
        </dgm:presLayoutVars>
      </dgm:prSet>
      <dgm:spPr/>
    </dgm:pt>
    <dgm:pt modelId="{9310D54F-239B-49AA-9061-4793CEA68206}" type="pres">
      <dgm:prSet presAssocID="{E229C664-1DDD-462D-A9FC-4E1CCFBCE0D0}" presName="sibTrans" presStyleLbl="sibTrans2D1" presStyleIdx="1" presStyleCnt="7"/>
      <dgm:spPr/>
    </dgm:pt>
    <dgm:pt modelId="{D09D80DE-E3A6-4BD4-B192-702284027C10}" type="pres">
      <dgm:prSet presAssocID="{E229C664-1DDD-462D-A9FC-4E1CCFBCE0D0}" presName="connectorText" presStyleLbl="sibTrans2D1" presStyleIdx="1" presStyleCnt="7"/>
      <dgm:spPr/>
    </dgm:pt>
    <dgm:pt modelId="{DB24233C-60DD-401C-9F68-655DCB388EE0}" type="pres">
      <dgm:prSet presAssocID="{60CFCC98-C5D9-4476-948F-7A6F4F9EE6DE}" presName="node" presStyleLbl="node1" presStyleIdx="2" presStyleCnt="8">
        <dgm:presLayoutVars>
          <dgm:bulletEnabled val="1"/>
        </dgm:presLayoutVars>
      </dgm:prSet>
      <dgm:spPr/>
    </dgm:pt>
    <dgm:pt modelId="{E8C6A452-F836-432A-8583-4C9A831ADF14}" type="pres">
      <dgm:prSet presAssocID="{C2AEA7B5-DA71-43FD-AE55-7ECC20BC9F5B}" presName="sibTrans" presStyleLbl="sibTrans2D1" presStyleIdx="2" presStyleCnt="7"/>
      <dgm:spPr/>
    </dgm:pt>
    <dgm:pt modelId="{3610BE6C-565D-43FC-B69D-E350B699E6E6}" type="pres">
      <dgm:prSet presAssocID="{C2AEA7B5-DA71-43FD-AE55-7ECC20BC9F5B}" presName="connectorText" presStyleLbl="sibTrans2D1" presStyleIdx="2" presStyleCnt="7"/>
      <dgm:spPr/>
    </dgm:pt>
    <dgm:pt modelId="{A189837F-BF5E-4808-97E1-BAD05711B831}" type="pres">
      <dgm:prSet presAssocID="{0D297AEC-3543-4B6A-BF7A-B9554EC1E471}" presName="node" presStyleLbl="node1" presStyleIdx="3" presStyleCnt="8">
        <dgm:presLayoutVars>
          <dgm:bulletEnabled val="1"/>
        </dgm:presLayoutVars>
      </dgm:prSet>
      <dgm:spPr/>
    </dgm:pt>
    <dgm:pt modelId="{BD7A3192-4C86-4109-A60B-788A2E75C9C4}" type="pres">
      <dgm:prSet presAssocID="{F676EE13-D2BB-4207-8201-19C624BE2389}" presName="sibTrans" presStyleLbl="sibTrans2D1" presStyleIdx="3" presStyleCnt="7"/>
      <dgm:spPr/>
    </dgm:pt>
    <dgm:pt modelId="{9A139D66-EE73-4EB0-8883-FB19374BFF88}" type="pres">
      <dgm:prSet presAssocID="{F676EE13-D2BB-4207-8201-19C624BE2389}" presName="connectorText" presStyleLbl="sibTrans2D1" presStyleIdx="3" presStyleCnt="7"/>
      <dgm:spPr/>
    </dgm:pt>
    <dgm:pt modelId="{E683B9D5-299E-47FA-8C83-09B483FDB179}" type="pres">
      <dgm:prSet presAssocID="{C0C6383C-32FB-4014-9388-3E67A1E64DAA}" presName="node" presStyleLbl="node1" presStyleIdx="4" presStyleCnt="8">
        <dgm:presLayoutVars>
          <dgm:bulletEnabled val="1"/>
        </dgm:presLayoutVars>
      </dgm:prSet>
      <dgm:spPr/>
    </dgm:pt>
    <dgm:pt modelId="{743210B4-CA5C-4B27-A908-57BFF21BF210}" type="pres">
      <dgm:prSet presAssocID="{ECC8FD43-049C-4B2A-B8C6-9A16207C493E}" presName="sibTrans" presStyleLbl="sibTrans2D1" presStyleIdx="4" presStyleCnt="7"/>
      <dgm:spPr/>
    </dgm:pt>
    <dgm:pt modelId="{35518A9C-A4B7-4D74-B08C-0867D4C2FB56}" type="pres">
      <dgm:prSet presAssocID="{ECC8FD43-049C-4B2A-B8C6-9A16207C493E}" presName="connectorText" presStyleLbl="sibTrans2D1" presStyleIdx="4" presStyleCnt="7"/>
      <dgm:spPr/>
    </dgm:pt>
    <dgm:pt modelId="{CEDB02D1-88A1-47ED-9A80-E4F9974531AE}" type="pres">
      <dgm:prSet presAssocID="{0BC3C163-AB2E-4808-A712-63FA5CB7427A}" presName="node" presStyleLbl="node1" presStyleIdx="5" presStyleCnt="8">
        <dgm:presLayoutVars>
          <dgm:bulletEnabled val="1"/>
        </dgm:presLayoutVars>
      </dgm:prSet>
      <dgm:spPr/>
    </dgm:pt>
    <dgm:pt modelId="{96612CB6-26A2-4CC9-93BB-C9422EF43CBE}" type="pres">
      <dgm:prSet presAssocID="{D2417335-34B8-4F66-B203-23F91256AF80}" presName="sibTrans" presStyleLbl="sibTrans2D1" presStyleIdx="5" presStyleCnt="7"/>
      <dgm:spPr/>
    </dgm:pt>
    <dgm:pt modelId="{73C637E7-D1BC-4619-8507-955FEADF818E}" type="pres">
      <dgm:prSet presAssocID="{D2417335-34B8-4F66-B203-23F91256AF80}" presName="connectorText" presStyleLbl="sibTrans2D1" presStyleIdx="5" presStyleCnt="7"/>
      <dgm:spPr/>
    </dgm:pt>
    <dgm:pt modelId="{BE779D10-1899-46F5-979D-7F79BBEA8940}" type="pres">
      <dgm:prSet presAssocID="{FEFDD787-6A82-410F-A355-25FD0D2611CC}" presName="node" presStyleLbl="node1" presStyleIdx="6" presStyleCnt="8">
        <dgm:presLayoutVars>
          <dgm:bulletEnabled val="1"/>
        </dgm:presLayoutVars>
      </dgm:prSet>
      <dgm:spPr/>
    </dgm:pt>
    <dgm:pt modelId="{D1001468-0729-4498-8EEC-49123173CC65}" type="pres">
      <dgm:prSet presAssocID="{22D4F97A-D7B7-40BF-8121-29E6AC595B0F}" presName="sibTrans" presStyleLbl="sibTrans2D1" presStyleIdx="6" presStyleCnt="7"/>
      <dgm:spPr/>
    </dgm:pt>
    <dgm:pt modelId="{96145184-2028-47D8-8523-F4F743A2EE42}" type="pres">
      <dgm:prSet presAssocID="{22D4F97A-D7B7-40BF-8121-29E6AC595B0F}" presName="connectorText" presStyleLbl="sibTrans2D1" presStyleIdx="6" presStyleCnt="7"/>
      <dgm:spPr/>
    </dgm:pt>
    <dgm:pt modelId="{8981612F-3D9D-4C55-8F40-01B69D49353B}" type="pres">
      <dgm:prSet presAssocID="{244AE67F-9EB4-4EB1-B9F1-E6CF83D8908C}" presName="node" presStyleLbl="node1" presStyleIdx="7" presStyleCnt="8">
        <dgm:presLayoutVars>
          <dgm:bulletEnabled val="1"/>
        </dgm:presLayoutVars>
      </dgm:prSet>
      <dgm:spPr/>
    </dgm:pt>
  </dgm:ptLst>
  <dgm:cxnLst>
    <dgm:cxn modelId="{1A8C5D07-A339-4583-AE0E-F37216173B30}" type="presOf" srcId="{22D4F97A-D7B7-40BF-8121-29E6AC595B0F}" destId="{96145184-2028-47D8-8523-F4F743A2EE42}" srcOrd="1" destOrd="0" presId="urn:microsoft.com/office/officeart/2005/8/layout/process1"/>
    <dgm:cxn modelId="{A837110A-9A19-4F02-A4C8-5CDBF231A23D}" type="presOf" srcId="{ECC8FD43-049C-4B2A-B8C6-9A16207C493E}" destId="{35518A9C-A4B7-4D74-B08C-0867D4C2FB56}" srcOrd="1" destOrd="0" presId="urn:microsoft.com/office/officeart/2005/8/layout/process1"/>
    <dgm:cxn modelId="{F4601213-FC3F-4CEB-BBFC-BF014DBB5A54}" type="presOf" srcId="{ECC8FD43-049C-4B2A-B8C6-9A16207C493E}" destId="{743210B4-CA5C-4B27-A908-57BFF21BF210}" srcOrd="0" destOrd="0" presId="urn:microsoft.com/office/officeart/2005/8/layout/process1"/>
    <dgm:cxn modelId="{634CEC1C-5031-4D53-8DF2-DFE9CC6EC1FD}" type="presOf" srcId="{6D109FA8-A820-4DE1-84BC-DA79ADD47769}" destId="{2B48854B-00CF-43FC-B586-76314F667219}" srcOrd="0" destOrd="0" presId="urn:microsoft.com/office/officeart/2005/8/layout/process1"/>
    <dgm:cxn modelId="{8CF73724-694C-4964-AE03-EFEF96A20216}" type="presOf" srcId="{22D4F97A-D7B7-40BF-8121-29E6AC595B0F}" destId="{D1001468-0729-4498-8EEC-49123173CC65}" srcOrd="0" destOrd="0" presId="urn:microsoft.com/office/officeart/2005/8/layout/process1"/>
    <dgm:cxn modelId="{91A2E331-3AA4-46FF-BAE5-C55DA0715D3E}" type="presOf" srcId="{C2AEA7B5-DA71-43FD-AE55-7ECC20BC9F5B}" destId="{3610BE6C-565D-43FC-B69D-E350B699E6E6}" srcOrd="1" destOrd="0" presId="urn:microsoft.com/office/officeart/2005/8/layout/process1"/>
    <dgm:cxn modelId="{B114C734-D071-40BB-A7AF-D20D2156FC80}" srcId="{6D109FA8-A820-4DE1-84BC-DA79ADD47769}" destId="{0BC3C163-AB2E-4808-A712-63FA5CB7427A}" srcOrd="5" destOrd="0" parTransId="{65EE7EBB-A04A-4263-BD78-7FA7C0E0CAFE}" sibTransId="{D2417335-34B8-4F66-B203-23F91256AF80}"/>
    <dgm:cxn modelId="{1428B336-5569-496D-9C63-34FAEE915127}" type="presOf" srcId="{0BC3C163-AB2E-4808-A712-63FA5CB7427A}" destId="{CEDB02D1-88A1-47ED-9A80-E4F9974531AE}" srcOrd="0" destOrd="0" presId="urn:microsoft.com/office/officeart/2005/8/layout/process1"/>
    <dgm:cxn modelId="{884E883B-26CE-4212-BD45-1FFED22984EC}" type="presOf" srcId="{244AE67F-9EB4-4EB1-B9F1-E6CF83D8908C}" destId="{8981612F-3D9D-4C55-8F40-01B69D49353B}" srcOrd="0" destOrd="0" presId="urn:microsoft.com/office/officeart/2005/8/layout/process1"/>
    <dgm:cxn modelId="{589F8A69-A609-4A86-A71C-037135F87DD5}" type="presOf" srcId="{FEFDD787-6A82-410F-A355-25FD0D2611CC}" destId="{BE779D10-1899-46F5-979D-7F79BBEA8940}" srcOrd="0" destOrd="0" presId="urn:microsoft.com/office/officeart/2005/8/layout/process1"/>
    <dgm:cxn modelId="{0423FE77-5368-472C-B345-5B7CF70C068D}" srcId="{6D109FA8-A820-4DE1-84BC-DA79ADD47769}" destId="{FEFDD787-6A82-410F-A355-25FD0D2611CC}" srcOrd="6" destOrd="0" parTransId="{69766FDA-313B-448A-B653-6BB0612D6784}" sibTransId="{22D4F97A-D7B7-40BF-8121-29E6AC595B0F}"/>
    <dgm:cxn modelId="{2FEA3E7B-945A-41BB-AC44-07F1D1505913}" type="presOf" srcId="{C2AEA7B5-DA71-43FD-AE55-7ECC20BC9F5B}" destId="{E8C6A452-F836-432A-8583-4C9A831ADF14}" srcOrd="0" destOrd="0" presId="urn:microsoft.com/office/officeart/2005/8/layout/process1"/>
    <dgm:cxn modelId="{CAFD2C81-97CF-4172-8060-B68C4F986FF4}" srcId="{6D109FA8-A820-4DE1-84BC-DA79ADD47769}" destId="{0D297AEC-3543-4B6A-BF7A-B9554EC1E471}" srcOrd="3" destOrd="0" parTransId="{3FA80059-5FFE-4AF7-8CC5-F1BFCB60F8DD}" sibTransId="{F676EE13-D2BB-4207-8201-19C624BE2389}"/>
    <dgm:cxn modelId="{856C0A91-FBF7-44D8-9755-643D08751AE5}" type="presOf" srcId="{D2417335-34B8-4F66-B203-23F91256AF80}" destId="{73C637E7-D1BC-4619-8507-955FEADF818E}" srcOrd="1" destOrd="0" presId="urn:microsoft.com/office/officeart/2005/8/layout/process1"/>
    <dgm:cxn modelId="{9FB66198-AD77-4D10-A0E2-3C8662BC1BBC}" type="presOf" srcId="{60CFCC98-C5D9-4476-948F-7A6F4F9EE6DE}" destId="{DB24233C-60DD-401C-9F68-655DCB388EE0}" srcOrd="0" destOrd="0" presId="urn:microsoft.com/office/officeart/2005/8/layout/process1"/>
    <dgm:cxn modelId="{5B11B8A0-DCC7-44C8-8029-0DD4D28129EA}" srcId="{6D109FA8-A820-4DE1-84BC-DA79ADD47769}" destId="{60CFCC98-C5D9-4476-948F-7A6F4F9EE6DE}" srcOrd="2" destOrd="0" parTransId="{18F169AA-9094-4CE1-BFD8-E909FBC482C8}" sibTransId="{C2AEA7B5-DA71-43FD-AE55-7ECC20BC9F5B}"/>
    <dgm:cxn modelId="{653FD3A2-DB81-43C4-AD92-4375203F3A47}" srcId="{6D109FA8-A820-4DE1-84BC-DA79ADD47769}" destId="{F31BB4A3-642B-41A5-9D84-12EB5A9B0E32}" srcOrd="0" destOrd="0" parTransId="{3B1BC5DA-1BE2-46FA-BA15-4FAD5F8D98B0}" sibTransId="{A3B26D6B-4CA6-4FD0-9A2D-C0BEFF590F3E}"/>
    <dgm:cxn modelId="{779D3FA5-9D92-4364-95F9-78DB246626E5}" type="presOf" srcId="{C0C6383C-32FB-4014-9388-3E67A1E64DAA}" destId="{E683B9D5-299E-47FA-8C83-09B483FDB179}" srcOrd="0" destOrd="0" presId="urn:microsoft.com/office/officeart/2005/8/layout/process1"/>
    <dgm:cxn modelId="{15658AB1-1E3C-4CE5-860F-86FB2B536B62}" srcId="{6D109FA8-A820-4DE1-84BC-DA79ADD47769}" destId="{8AB997E7-8382-4795-AADC-8BAE6FD330B2}" srcOrd="1" destOrd="0" parTransId="{491BDD41-D3D2-4A3E-B2B1-D078D493120F}" sibTransId="{E229C664-1DDD-462D-A9FC-4E1CCFBCE0D0}"/>
    <dgm:cxn modelId="{5919CAB8-77FD-49B3-B3B7-BD314BCBE253}" type="presOf" srcId="{E229C664-1DDD-462D-A9FC-4E1CCFBCE0D0}" destId="{D09D80DE-E3A6-4BD4-B192-702284027C10}" srcOrd="1" destOrd="0" presId="urn:microsoft.com/office/officeart/2005/8/layout/process1"/>
    <dgm:cxn modelId="{92996ABA-02B0-4E80-85FF-55C58AB7312F}" type="presOf" srcId="{D2417335-34B8-4F66-B203-23F91256AF80}" destId="{96612CB6-26A2-4CC9-93BB-C9422EF43CBE}" srcOrd="0" destOrd="0" presId="urn:microsoft.com/office/officeart/2005/8/layout/process1"/>
    <dgm:cxn modelId="{6294E7E0-60BD-48E0-BC54-1871873AC693}" type="presOf" srcId="{A3B26D6B-4CA6-4FD0-9A2D-C0BEFF590F3E}" destId="{D8292AA8-27C9-47B6-BA89-5B9E502B186C}" srcOrd="0" destOrd="0" presId="urn:microsoft.com/office/officeart/2005/8/layout/process1"/>
    <dgm:cxn modelId="{D10B89E2-8E5C-41F4-B5A7-B4BCF158B313}" type="presOf" srcId="{F676EE13-D2BB-4207-8201-19C624BE2389}" destId="{BD7A3192-4C86-4109-A60B-788A2E75C9C4}" srcOrd="0" destOrd="0" presId="urn:microsoft.com/office/officeart/2005/8/layout/process1"/>
    <dgm:cxn modelId="{9D700BE9-6299-4B18-B214-1FF3127DAADF}" type="presOf" srcId="{F676EE13-D2BB-4207-8201-19C624BE2389}" destId="{9A139D66-EE73-4EB0-8883-FB19374BFF88}" srcOrd="1" destOrd="0" presId="urn:microsoft.com/office/officeart/2005/8/layout/process1"/>
    <dgm:cxn modelId="{E06576EB-3A46-4DAA-ADD9-DA93EF3C26D2}" type="presOf" srcId="{8AB997E7-8382-4795-AADC-8BAE6FD330B2}" destId="{7C64308A-78B6-4AAB-9DC1-BCD7F1172536}" srcOrd="0" destOrd="0" presId="urn:microsoft.com/office/officeart/2005/8/layout/process1"/>
    <dgm:cxn modelId="{A4C786EC-2E1D-40F4-B207-B004718AC0D2}" type="presOf" srcId="{0D297AEC-3543-4B6A-BF7A-B9554EC1E471}" destId="{A189837F-BF5E-4808-97E1-BAD05711B831}" srcOrd="0" destOrd="0" presId="urn:microsoft.com/office/officeart/2005/8/layout/process1"/>
    <dgm:cxn modelId="{C3BA89ED-DBC3-4584-9AF4-5CC1F7B2BC69}" type="presOf" srcId="{F31BB4A3-642B-41A5-9D84-12EB5A9B0E32}" destId="{E11E4A3F-EC60-4F29-8689-0E8CA579101E}" srcOrd="0" destOrd="0" presId="urn:microsoft.com/office/officeart/2005/8/layout/process1"/>
    <dgm:cxn modelId="{91B77FF8-F42D-4A29-A10E-667DCD5C3FA1}" type="presOf" srcId="{E229C664-1DDD-462D-A9FC-4E1CCFBCE0D0}" destId="{9310D54F-239B-49AA-9061-4793CEA68206}" srcOrd="0" destOrd="0" presId="urn:microsoft.com/office/officeart/2005/8/layout/process1"/>
    <dgm:cxn modelId="{4C01BCF8-126B-4EA2-A0E2-1CC0D0A16AD4}" srcId="{6D109FA8-A820-4DE1-84BC-DA79ADD47769}" destId="{C0C6383C-32FB-4014-9388-3E67A1E64DAA}" srcOrd="4" destOrd="0" parTransId="{7D981488-2182-4DEE-B8BF-B6374537E7C6}" sibTransId="{ECC8FD43-049C-4B2A-B8C6-9A16207C493E}"/>
    <dgm:cxn modelId="{B4EBA0FE-F544-4CB6-80F7-5FF987F4C63B}" type="presOf" srcId="{A3B26D6B-4CA6-4FD0-9A2D-C0BEFF590F3E}" destId="{A2DD90D0-88E3-44CE-BCC8-177D46FABF90}" srcOrd="1" destOrd="0" presId="urn:microsoft.com/office/officeart/2005/8/layout/process1"/>
    <dgm:cxn modelId="{A14BA9FE-33A2-44F9-AE22-C498CF2E5A15}" srcId="{6D109FA8-A820-4DE1-84BC-DA79ADD47769}" destId="{244AE67F-9EB4-4EB1-B9F1-E6CF83D8908C}" srcOrd="7" destOrd="0" parTransId="{66C7D83C-DF50-4BEA-85FE-C2DB74C867C2}" sibTransId="{08D5FABF-0B03-4F6F-8014-1BEDA51B929E}"/>
    <dgm:cxn modelId="{5CB630A3-66C0-423F-BD20-A53CCDC5D68C}" type="presParOf" srcId="{2B48854B-00CF-43FC-B586-76314F667219}" destId="{E11E4A3F-EC60-4F29-8689-0E8CA579101E}" srcOrd="0" destOrd="0" presId="urn:microsoft.com/office/officeart/2005/8/layout/process1"/>
    <dgm:cxn modelId="{A7E46E5D-7FC1-4227-BE86-C69A0D0DC68C}" type="presParOf" srcId="{2B48854B-00CF-43FC-B586-76314F667219}" destId="{D8292AA8-27C9-47B6-BA89-5B9E502B186C}" srcOrd="1" destOrd="0" presId="urn:microsoft.com/office/officeart/2005/8/layout/process1"/>
    <dgm:cxn modelId="{B9DA653F-BAF5-4189-84F9-938012A64783}" type="presParOf" srcId="{D8292AA8-27C9-47B6-BA89-5B9E502B186C}" destId="{A2DD90D0-88E3-44CE-BCC8-177D46FABF90}" srcOrd="0" destOrd="0" presId="urn:microsoft.com/office/officeart/2005/8/layout/process1"/>
    <dgm:cxn modelId="{B4020D24-0F52-48A4-B5C1-0A52F594A991}" type="presParOf" srcId="{2B48854B-00CF-43FC-B586-76314F667219}" destId="{7C64308A-78B6-4AAB-9DC1-BCD7F1172536}" srcOrd="2" destOrd="0" presId="urn:microsoft.com/office/officeart/2005/8/layout/process1"/>
    <dgm:cxn modelId="{858BBB4B-00AE-4954-9231-F01E6469B3E9}" type="presParOf" srcId="{2B48854B-00CF-43FC-B586-76314F667219}" destId="{9310D54F-239B-49AA-9061-4793CEA68206}" srcOrd="3" destOrd="0" presId="urn:microsoft.com/office/officeart/2005/8/layout/process1"/>
    <dgm:cxn modelId="{DC9EC87B-79DF-44CC-8D4A-C4C4B7CEC0FA}" type="presParOf" srcId="{9310D54F-239B-49AA-9061-4793CEA68206}" destId="{D09D80DE-E3A6-4BD4-B192-702284027C10}" srcOrd="0" destOrd="0" presId="urn:microsoft.com/office/officeart/2005/8/layout/process1"/>
    <dgm:cxn modelId="{18E9729E-1213-439B-A28B-2C65B27A37CD}" type="presParOf" srcId="{2B48854B-00CF-43FC-B586-76314F667219}" destId="{DB24233C-60DD-401C-9F68-655DCB388EE0}" srcOrd="4" destOrd="0" presId="urn:microsoft.com/office/officeart/2005/8/layout/process1"/>
    <dgm:cxn modelId="{DDE4CA07-07D4-4DF1-9685-CE2FFCF2C0E2}" type="presParOf" srcId="{2B48854B-00CF-43FC-B586-76314F667219}" destId="{E8C6A452-F836-432A-8583-4C9A831ADF14}" srcOrd="5" destOrd="0" presId="urn:microsoft.com/office/officeart/2005/8/layout/process1"/>
    <dgm:cxn modelId="{4BC191BA-E873-43FC-AF5D-EC71E61CE96F}" type="presParOf" srcId="{E8C6A452-F836-432A-8583-4C9A831ADF14}" destId="{3610BE6C-565D-43FC-B69D-E350B699E6E6}" srcOrd="0" destOrd="0" presId="urn:microsoft.com/office/officeart/2005/8/layout/process1"/>
    <dgm:cxn modelId="{B684D8B0-8800-4886-9D3E-463D50B01065}" type="presParOf" srcId="{2B48854B-00CF-43FC-B586-76314F667219}" destId="{A189837F-BF5E-4808-97E1-BAD05711B831}" srcOrd="6" destOrd="0" presId="urn:microsoft.com/office/officeart/2005/8/layout/process1"/>
    <dgm:cxn modelId="{FB036138-8C41-46ED-B2EA-D3371369F38D}" type="presParOf" srcId="{2B48854B-00CF-43FC-B586-76314F667219}" destId="{BD7A3192-4C86-4109-A60B-788A2E75C9C4}" srcOrd="7" destOrd="0" presId="urn:microsoft.com/office/officeart/2005/8/layout/process1"/>
    <dgm:cxn modelId="{F406D76D-6355-4D27-BF9C-95CF3B99D721}" type="presParOf" srcId="{BD7A3192-4C86-4109-A60B-788A2E75C9C4}" destId="{9A139D66-EE73-4EB0-8883-FB19374BFF88}" srcOrd="0" destOrd="0" presId="urn:microsoft.com/office/officeart/2005/8/layout/process1"/>
    <dgm:cxn modelId="{1483D019-E2D6-4D47-A2F5-02128FCAF983}" type="presParOf" srcId="{2B48854B-00CF-43FC-B586-76314F667219}" destId="{E683B9D5-299E-47FA-8C83-09B483FDB179}" srcOrd="8" destOrd="0" presId="urn:microsoft.com/office/officeart/2005/8/layout/process1"/>
    <dgm:cxn modelId="{9DB4AAB6-B883-4E6D-9173-480A02BBAD38}" type="presParOf" srcId="{2B48854B-00CF-43FC-B586-76314F667219}" destId="{743210B4-CA5C-4B27-A908-57BFF21BF210}" srcOrd="9" destOrd="0" presId="urn:microsoft.com/office/officeart/2005/8/layout/process1"/>
    <dgm:cxn modelId="{0C4E693E-8BD9-4EBD-9C3C-A8CA3964B01E}" type="presParOf" srcId="{743210B4-CA5C-4B27-A908-57BFF21BF210}" destId="{35518A9C-A4B7-4D74-B08C-0867D4C2FB56}" srcOrd="0" destOrd="0" presId="urn:microsoft.com/office/officeart/2005/8/layout/process1"/>
    <dgm:cxn modelId="{AD99F251-773D-4ACD-A30F-450FE9EA1851}" type="presParOf" srcId="{2B48854B-00CF-43FC-B586-76314F667219}" destId="{CEDB02D1-88A1-47ED-9A80-E4F9974531AE}" srcOrd="10" destOrd="0" presId="urn:microsoft.com/office/officeart/2005/8/layout/process1"/>
    <dgm:cxn modelId="{56FB86F4-996C-4095-B458-B00AE5401767}" type="presParOf" srcId="{2B48854B-00CF-43FC-B586-76314F667219}" destId="{96612CB6-26A2-4CC9-93BB-C9422EF43CBE}" srcOrd="11" destOrd="0" presId="urn:microsoft.com/office/officeart/2005/8/layout/process1"/>
    <dgm:cxn modelId="{0E325D1D-8D25-4BC7-B7CC-C28A1F710D50}" type="presParOf" srcId="{96612CB6-26A2-4CC9-93BB-C9422EF43CBE}" destId="{73C637E7-D1BC-4619-8507-955FEADF818E}" srcOrd="0" destOrd="0" presId="urn:microsoft.com/office/officeart/2005/8/layout/process1"/>
    <dgm:cxn modelId="{C03A71FA-4B66-4C52-941E-CDAB52F05452}" type="presParOf" srcId="{2B48854B-00CF-43FC-B586-76314F667219}" destId="{BE779D10-1899-46F5-979D-7F79BBEA8940}" srcOrd="12" destOrd="0" presId="urn:microsoft.com/office/officeart/2005/8/layout/process1"/>
    <dgm:cxn modelId="{55BEB059-8FC6-4921-8432-4C44DD752020}" type="presParOf" srcId="{2B48854B-00CF-43FC-B586-76314F667219}" destId="{D1001468-0729-4498-8EEC-49123173CC65}" srcOrd="13" destOrd="0" presId="urn:microsoft.com/office/officeart/2005/8/layout/process1"/>
    <dgm:cxn modelId="{1038CB13-B844-4C8A-8D4F-C67BFC3AC3C8}" type="presParOf" srcId="{D1001468-0729-4498-8EEC-49123173CC65}" destId="{96145184-2028-47D8-8523-F4F743A2EE42}" srcOrd="0" destOrd="0" presId="urn:microsoft.com/office/officeart/2005/8/layout/process1"/>
    <dgm:cxn modelId="{69EB535A-FB8B-4BE4-91D6-6E4198D97929}" type="presParOf" srcId="{2B48854B-00CF-43FC-B586-76314F667219}" destId="{8981612F-3D9D-4C55-8F40-01B69D49353B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1E4A3F-EC60-4F29-8689-0E8CA579101E}">
      <dsp:nvSpPr>
        <dsp:cNvPr id="0" name=""/>
        <dsp:cNvSpPr/>
      </dsp:nvSpPr>
      <dsp:spPr>
        <a:xfrm>
          <a:off x="9469" y="778344"/>
          <a:ext cx="1054925" cy="7516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Подготовка сырья</a:t>
          </a:r>
        </a:p>
      </dsp:txBody>
      <dsp:txXfrm>
        <a:off x="31484" y="800359"/>
        <a:ext cx="1010895" cy="707604"/>
      </dsp:txXfrm>
    </dsp:sp>
    <dsp:sp modelId="{D8292AA8-27C9-47B6-BA89-5B9E502B186C}">
      <dsp:nvSpPr>
        <dsp:cNvPr id="0" name=""/>
        <dsp:cNvSpPr/>
      </dsp:nvSpPr>
      <dsp:spPr>
        <a:xfrm>
          <a:off x="1169887" y="1023351"/>
          <a:ext cx="223644" cy="26162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1169887" y="1075675"/>
        <a:ext cx="156551" cy="156973"/>
      </dsp:txXfrm>
    </dsp:sp>
    <dsp:sp modelId="{7C64308A-78B6-4AAB-9DC1-BCD7F1172536}">
      <dsp:nvSpPr>
        <dsp:cNvPr id="0" name=""/>
        <dsp:cNvSpPr/>
      </dsp:nvSpPr>
      <dsp:spPr>
        <a:xfrm>
          <a:off x="1486365" y="778344"/>
          <a:ext cx="1054925" cy="7516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Измельчение на измельчителе </a:t>
          </a:r>
          <a:r>
            <a:rPr lang="en-US" sz="1100" b="1" kern="1200" dirty="0"/>
            <a:t>TIRBIT-800Y</a:t>
          </a:r>
          <a:endParaRPr lang="ru-RU" sz="1100" b="1" kern="1200" dirty="0"/>
        </a:p>
      </dsp:txBody>
      <dsp:txXfrm>
        <a:off x="1508380" y="800359"/>
        <a:ext cx="1010895" cy="707604"/>
      </dsp:txXfrm>
    </dsp:sp>
    <dsp:sp modelId="{9310D54F-239B-49AA-9061-4793CEA68206}">
      <dsp:nvSpPr>
        <dsp:cNvPr id="0" name=""/>
        <dsp:cNvSpPr/>
      </dsp:nvSpPr>
      <dsp:spPr>
        <a:xfrm>
          <a:off x="2646783" y="1023351"/>
          <a:ext cx="223644" cy="26162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2646783" y="1075675"/>
        <a:ext cx="156551" cy="156973"/>
      </dsp:txXfrm>
    </dsp:sp>
    <dsp:sp modelId="{DB24233C-60DD-401C-9F68-655DCB388EE0}">
      <dsp:nvSpPr>
        <dsp:cNvPr id="0" name=""/>
        <dsp:cNvSpPr/>
      </dsp:nvSpPr>
      <dsp:spPr>
        <a:xfrm>
          <a:off x="2963261" y="778344"/>
          <a:ext cx="1054925" cy="7516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Смешивание компонентов</a:t>
          </a:r>
        </a:p>
      </dsp:txBody>
      <dsp:txXfrm>
        <a:off x="2985276" y="800359"/>
        <a:ext cx="1010895" cy="707604"/>
      </dsp:txXfrm>
    </dsp:sp>
    <dsp:sp modelId="{E8C6A452-F836-432A-8583-4C9A831ADF14}">
      <dsp:nvSpPr>
        <dsp:cNvPr id="0" name=""/>
        <dsp:cNvSpPr/>
      </dsp:nvSpPr>
      <dsp:spPr>
        <a:xfrm>
          <a:off x="4123680" y="1023351"/>
          <a:ext cx="223644" cy="26162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4123680" y="1075675"/>
        <a:ext cx="156551" cy="156973"/>
      </dsp:txXfrm>
    </dsp:sp>
    <dsp:sp modelId="{A189837F-BF5E-4808-97E1-BAD05711B831}">
      <dsp:nvSpPr>
        <dsp:cNvPr id="0" name=""/>
        <dsp:cNvSpPr/>
      </dsp:nvSpPr>
      <dsp:spPr>
        <a:xfrm>
          <a:off x="4440157" y="778344"/>
          <a:ext cx="1054925" cy="7516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Гранулирование на </a:t>
          </a:r>
          <a:r>
            <a:rPr lang="ru-RU" sz="1100" b="1" kern="1200" dirty="0" err="1"/>
            <a:t>грануляторе</a:t>
          </a:r>
          <a:r>
            <a:rPr lang="ru-RU" sz="1100" b="1" kern="1200" dirty="0"/>
            <a:t> </a:t>
          </a:r>
          <a:r>
            <a:rPr lang="en-US" sz="1100" b="1" kern="1200" dirty="0"/>
            <a:t>ZLSP-120</a:t>
          </a:r>
          <a:endParaRPr lang="ru-RU" sz="1100" b="1" kern="1200" dirty="0"/>
        </a:p>
      </dsp:txBody>
      <dsp:txXfrm>
        <a:off x="4462172" y="800359"/>
        <a:ext cx="1010895" cy="707604"/>
      </dsp:txXfrm>
    </dsp:sp>
    <dsp:sp modelId="{BD7A3192-4C86-4109-A60B-788A2E75C9C4}">
      <dsp:nvSpPr>
        <dsp:cNvPr id="0" name=""/>
        <dsp:cNvSpPr/>
      </dsp:nvSpPr>
      <dsp:spPr>
        <a:xfrm>
          <a:off x="5600576" y="1023351"/>
          <a:ext cx="223644" cy="26162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5600576" y="1075675"/>
        <a:ext cx="156551" cy="156973"/>
      </dsp:txXfrm>
    </dsp:sp>
    <dsp:sp modelId="{E683B9D5-299E-47FA-8C83-09B483FDB179}">
      <dsp:nvSpPr>
        <dsp:cNvPr id="0" name=""/>
        <dsp:cNvSpPr/>
      </dsp:nvSpPr>
      <dsp:spPr>
        <a:xfrm>
          <a:off x="5917054" y="778344"/>
          <a:ext cx="1054925" cy="7516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Сушка при комнатной </a:t>
          </a:r>
          <a:r>
            <a:rPr lang="en-US" sz="1100" b="1" kern="1200" dirty="0"/>
            <a:t>t</a:t>
          </a:r>
          <a:endParaRPr lang="ru-RU" sz="1100" b="1" kern="1200" dirty="0"/>
        </a:p>
      </dsp:txBody>
      <dsp:txXfrm>
        <a:off x="5939069" y="800359"/>
        <a:ext cx="1010895" cy="707604"/>
      </dsp:txXfrm>
    </dsp:sp>
    <dsp:sp modelId="{743210B4-CA5C-4B27-A908-57BFF21BF210}">
      <dsp:nvSpPr>
        <dsp:cNvPr id="0" name=""/>
        <dsp:cNvSpPr/>
      </dsp:nvSpPr>
      <dsp:spPr>
        <a:xfrm>
          <a:off x="7077472" y="1023351"/>
          <a:ext cx="223644" cy="26162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7077472" y="1075675"/>
        <a:ext cx="156551" cy="156973"/>
      </dsp:txXfrm>
    </dsp:sp>
    <dsp:sp modelId="{CEDB02D1-88A1-47ED-9A80-E4F9974531AE}">
      <dsp:nvSpPr>
        <dsp:cNvPr id="0" name=""/>
        <dsp:cNvSpPr/>
      </dsp:nvSpPr>
      <dsp:spPr>
        <a:xfrm>
          <a:off x="7393950" y="778344"/>
          <a:ext cx="1054925" cy="7516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Обогащение пробиотиком при </a:t>
          </a:r>
          <a:r>
            <a:rPr lang="en-US" sz="1100" b="1" kern="1200" dirty="0"/>
            <a:t>t 25-30</a:t>
          </a:r>
          <a:r>
            <a:rPr lang="en-US" sz="11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°</a:t>
          </a:r>
          <a:endParaRPr lang="ru-RU" sz="1100" b="1" kern="1200" dirty="0"/>
        </a:p>
      </dsp:txBody>
      <dsp:txXfrm>
        <a:off x="7415965" y="800359"/>
        <a:ext cx="1010895" cy="707604"/>
      </dsp:txXfrm>
    </dsp:sp>
    <dsp:sp modelId="{96612CB6-26A2-4CC9-93BB-C9422EF43CBE}">
      <dsp:nvSpPr>
        <dsp:cNvPr id="0" name=""/>
        <dsp:cNvSpPr/>
      </dsp:nvSpPr>
      <dsp:spPr>
        <a:xfrm>
          <a:off x="8554368" y="1023351"/>
          <a:ext cx="223644" cy="26162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8554368" y="1075675"/>
        <a:ext cx="156551" cy="156973"/>
      </dsp:txXfrm>
    </dsp:sp>
    <dsp:sp modelId="{BE779D10-1899-46F5-979D-7F79BBEA8940}">
      <dsp:nvSpPr>
        <dsp:cNvPr id="0" name=""/>
        <dsp:cNvSpPr/>
      </dsp:nvSpPr>
      <dsp:spPr>
        <a:xfrm>
          <a:off x="8870846" y="778344"/>
          <a:ext cx="1054925" cy="7516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Сушка при комнатной </a:t>
          </a:r>
          <a:r>
            <a:rPr lang="en-US" sz="1100" b="1" kern="1200" dirty="0"/>
            <a:t>t</a:t>
          </a:r>
          <a:endParaRPr lang="ru-RU" sz="1100" b="1" kern="1200" dirty="0"/>
        </a:p>
      </dsp:txBody>
      <dsp:txXfrm>
        <a:off x="8892861" y="800359"/>
        <a:ext cx="1010895" cy="707604"/>
      </dsp:txXfrm>
    </dsp:sp>
    <dsp:sp modelId="{D1001468-0729-4498-8EEC-49123173CC65}">
      <dsp:nvSpPr>
        <dsp:cNvPr id="0" name=""/>
        <dsp:cNvSpPr/>
      </dsp:nvSpPr>
      <dsp:spPr>
        <a:xfrm>
          <a:off x="10031265" y="1023351"/>
          <a:ext cx="223644" cy="26162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100" kern="1200"/>
        </a:p>
      </dsp:txBody>
      <dsp:txXfrm>
        <a:off x="10031265" y="1075675"/>
        <a:ext cx="156551" cy="156973"/>
      </dsp:txXfrm>
    </dsp:sp>
    <dsp:sp modelId="{8981612F-3D9D-4C55-8F40-01B69D49353B}">
      <dsp:nvSpPr>
        <dsp:cNvPr id="0" name=""/>
        <dsp:cNvSpPr/>
      </dsp:nvSpPr>
      <dsp:spPr>
        <a:xfrm>
          <a:off x="10347742" y="778344"/>
          <a:ext cx="1054925" cy="75163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b="1" kern="1200" dirty="0"/>
            <a:t>Упаковка</a:t>
          </a:r>
        </a:p>
      </dsp:txBody>
      <dsp:txXfrm>
        <a:off x="10369757" y="800359"/>
        <a:ext cx="1010895" cy="7076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B6D0F-8444-6648-95BB-C991FFD6E818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0DFF4-30A0-6641-A1D6-4AD7A6878D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99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 14"/>
          <p:cNvSpPr/>
          <p:nvPr userDrawn="1"/>
        </p:nvSpPr>
        <p:spPr>
          <a:xfrm rot="10800000">
            <a:off x="764341" y="2162220"/>
            <a:ext cx="9773029" cy="329873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8231"/>
              <a:gd name="connsiteX1" fmla="*/ 0 w 909835"/>
              <a:gd name="connsiteY1" fmla="*/ 594339 h 688231"/>
              <a:gd name="connsiteX2" fmla="*/ 61184 w 909835"/>
              <a:gd name="connsiteY2" fmla="*/ 685911 h 688231"/>
              <a:gd name="connsiteX3" fmla="*/ 847726 w 909835"/>
              <a:gd name="connsiteY3" fmla="*/ 684827 h 688231"/>
              <a:gd name="connsiteX4" fmla="*/ 907257 w 909835"/>
              <a:gd name="connsiteY4" fmla="*/ 577671 h 688231"/>
              <a:gd name="connsiteX5" fmla="*/ 909835 w 909835"/>
              <a:gd name="connsiteY5" fmla="*/ 65702 h 688231"/>
              <a:gd name="connsiteX6" fmla="*/ 828675 w 909835"/>
              <a:gd name="connsiteY6" fmla="*/ 13314 h 688231"/>
              <a:gd name="connsiteX7" fmla="*/ 45244 w 909835"/>
              <a:gd name="connsiteY7" fmla="*/ 275252 h 688231"/>
              <a:gd name="connsiteX8" fmla="*/ 0 w 909835"/>
              <a:gd name="connsiteY8" fmla="*/ 384791 h 68823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45244 w 909835"/>
              <a:gd name="connsiteY7" fmla="*/ 275252 h 685911"/>
              <a:gd name="connsiteX8" fmla="*/ 0 w 909835"/>
              <a:gd name="connsiteY8" fmla="*/ 384791 h 685911"/>
              <a:gd name="connsiteX0" fmla="*/ 1990 w 911825"/>
              <a:gd name="connsiteY0" fmla="*/ 384791 h 685911"/>
              <a:gd name="connsiteX1" fmla="*/ 1990 w 911825"/>
              <a:gd name="connsiteY1" fmla="*/ 594339 h 685911"/>
              <a:gd name="connsiteX2" fmla="*/ 63174 w 911825"/>
              <a:gd name="connsiteY2" fmla="*/ 685911 h 685911"/>
              <a:gd name="connsiteX3" fmla="*/ 849716 w 911825"/>
              <a:gd name="connsiteY3" fmla="*/ 684827 h 685911"/>
              <a:gd name="connsiteX4" fmla="*/ 909247 w 911825"/>
              <a:gd name="connsiteY4" fmla="*/ 577671 h 685911"/>
              <a:gd name="connsiteX5" fmla="*/ 911825 w 911825"/>
              <a:gd name="connsiteY5" fmla="*/ 65702 h 685911"/>
              <a:gd name="connsiteX6" fmla="*/ 830665 w 911825"/>
              <a:gd name="connsiteY6" fmla="*/ 13314 h 685911"/>
              <a:gd name="connsiteX7" fmla="*/ 35396 w 911825"/>
              <a:gd name="connsiteY7" fmla="*/ 282118 h 685911"/>
              <a:gd name="connsiteX8" fmla="*/ 1990 w 911825"/>
              <a:gd name="connsiteY8" fmla="*/ 384791 h 685911"/>
              <a:gd name="connsiteX0" fmla="*/ 0 w 909835"/>
              <a:gd name="connsiteY0" fmla="*/ 384791 h 685911"/>
              <a:gd name="connsiteX1" fmla="*/ 0 w 909835"/>
              <a:gd name="connsiteY1" fmla="*/ 594339 h 685911"/>
              <a:gd name="connsiteX2" fmla="*/ 61184 w 909835"/>
              <a:gd name="connsiteY2" fmla="*/ 685911 h 685911"/>
              <a:gd name="connsiteX3" fmla="*/ 847726 w 909835"/>
              <a:gd name="connsiteY3" fmla="*/ 684827 h 685911"/>
              <a:gd name="connsiteX4" fmla="*/ 907257 w 909835"/>
              <a:gd name="connsiteY4" fmla="*/ 577671 h 685911"/>
              <a:gd name="connsiteX5" fmla="*/ 909835 w 909835"/>
              <a:gd name="connsiteY5" fmla="*/ 65702 h 685911"/>
              <a:gd name="connsiteX6" fmla="*/ 828675 w 909835"/>
              <a:gd name="connsiteY6" fmla="*/ 13314 h 685911"/>
              <a:gd name="connsiteX7" fmla="*/ 33406 w 909835"/>
              <a:gd name="connsiteY7" fmla="*/ 282118 h 685911"/>
              <a:gd name="connsiteX8" fmla="*/ 0 w 909835"/>
              <a:gd name="connsiteY8" fmla="*/ 384791 h 685911"/>
              <a:gd name="connsiteX0" fmla="*/ 0 w 909835"/>
              <a:gd name="connsiteY0" fmla="*/ 388112 h 689232"/>
              <a:gd name="connsiteX1" fmla="*/ 0 w 909835"/>
              <a:gd name="connsiteY1" fmla="*/ 597660 h 689232"/>
              <a:gd name="connsiteX2" fmla="*/ 61184 w 909835"/>
              <a:gd name="connsiteY2" fmla="*/ 689232 h 689232"/>
              <a:gd name="connsiteX3" fmla="*/ 847726 w 909835"/>
              <a:gd name="connsiteY3" fmla="*/ 688148 h 689232"/>
              <a:gd name="connsiteX4" fmla="*/ 907257 w 909835"/>
              <a:gd name="connsiteY4" fmla="*/ 580992 h 689232"/>
              <a:gd name="connsiteX5" fmla="*/ 909835 w 909835"/>
              <a:gd name="connsiteY5" fmla="*/ 69023 h 689232"/>
              <a:gd name="connsiteX6" fmla="*/ 851612 w 909835"/>
              <a:gd name="connsiteY6" fmla="*/ 11485 h 689232"/>
              <a:gd name="connsiteX7" fmla="*/ 33406 w 909835"/>
              <a:gd name="connsiteY7" fmla="*/ 285439 h 689232"/>
              <a:gd name="connsiteX8" fmla="*/ 0 w 909835"/>
              <a:gd name="connsiteY8" fmla="*/ 388112 h 689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89232">
                <a:moveTo>
                  <a:pt x="0" y="388112"/>
                </a:moveTo>
                <a:lnTo>
                  <a:pt x="0" y="597660"/>
                </a:lnTo>
                <a:cubicBezTo>
                  <a:pt x="314" y="708613"/>
                  <a:pt x="1707" y="683031"/>
                  <a:pt x="61184" y="689232"/>
                </a:cubicBezTo>
                <a:lnTo>
                  <a:pt x="847726" y="688148"/>
                </a:lnTo>
                <a:cubicBezTo>
                  <a:pt x="914024" y="696683"/>
                  <a:pt x="907077" y="646519"/>
                  <a:pt x="907257" y="580992"/>
                </a:cubicBezTo>
                <a:cubicBezTo>
                  <a:pt x="908116" y="410336"/>
                  <a:pt x="908976" y="239679"/>
                  <a:pt x="909835" y="69023"/>
                </a:cubicBezTo>
                <a:cubicBezTo>
                  <a:pt x="909889" y="-19382"/>
                  <a:pt x="896982" y="-2998"/>
                  <a:pt x="851612" y="11485"/>
                </a:cubicBezTo>
                <a:lnTo>
                  <a:pt x="33406" y="285439"/>
                </a:lnTo>
                <a:cubicBezTo>
                  <a:pt x="-5008" y="299234"/>
                  <a:pt x="701" y="316090"/>
                  <a:pt x="0" y="3881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 15"/>
          <p:cNvSpPr/>
          <p:nvPr userDrawn="1"/>
        </p:nvSpPr>
        <p:spPr>
          <a:xfrm>
            <a:off x="4469130" y="1369365"/>
            <a:ext cx="6781800" cy="2192335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326">
                <a:moveTo>
                  <a:pt x="0" y="384791"/>
                </a:moveTo>
                <a:lnTo>
                  <a:pt x="0" y="594339"/>
                </a:lnTo>
                <a:cubicBezTo>
                  <a:pt x="314" y="705292"/>
                  <a:pt x="53182" y="691972"/>
                  <a:pt x="111919" y="689590"/>
                </a:cubicBezTo>
                <a:lnTo>
                  <a:pt x="847726" y="684827"/>
                </a:lnTo>
                <a:cubicBezTo>
                  <a:pt x="914024" y="693362"/>
                  <a:pt x="907077" y="643198"/>
                  <a:pt x="907257" y="577671"/>
                </a:cubicBezTo>
                <a:cubicBezTo>
                  <a:pt x="908116" y="407015"/>
                  <a:pt x="908976" y="236358"/>
                  <a:pt x="909835" y="65702"/>
                </a:cubicBezTo>
                <a:cubicBezTo>
                  <a:pt x="909889" y="-22703"/>
                  <a:pt x="874045" y="-1169"/>
                  <a:pt x="828675" y="13314"/>
                </a:cubicBezTo>
                <a:lnTo>
                  <a:pt x="45244" y="275252"/>
                </a:lnTo>
                <a:cubicBezTo>
                  <a:pt x="-3528" y="294197"/>
                  <a:pt x="701" y="312769"/>
                  <a:pt x="0" y="38479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2"/>
          <p:cNvSpPr>
            <a:spLocks noGrp="1"/>
          </p:cNvSpPr>
          <p:nvPr>
            <p:ph type="title" hasCustomPrompt="1"/>
          </p:nvPr>
        </p:nvSpPr>
        <p:spPr>
          <a:xfrm>
            <a:off x="1206500" y="2574930"/>
            <a:ext cx="72771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ba-RU" dirty="0"/>
              <a:t>Заголовок</a:t>
            </a:r>
            <a:endParaRPr lang="ru-RU" dirty="0"/>
          </a:p>
        </p:txBody>
      </p:sp>
      <p:sp>
        <p:nvSpPr>
          <p:cNvPr id="18" name="Полилиния 17"/>
          <p:cNvSpPr/>
          <p:nvPr userDrawn="1"/>
        </p:nvSpPr>
        <p:spPr>
          <a:xfrm rot="10800000">
            <a:off x="1575971" y="4090869"/>
            <a:ext cx="7747000" cy="1899258"/>
          </a:xfrm>
          <a:custGeom>
            <a:avLst/>
            <a:gdLst>
              <a:gd name="connsiteX0" fmla="*/ 0 w 897732"/>
              <a:gd name="connsiteY0" fmla="*/ 314325 h 671513"/>
              <a:gd name="connsiteX1" fmla="*/ 0 w 897732"/>
              <a:gd name="connsiteY1" fmla="*/ 607219 h 671513"/>
              <a:gd name="connsiteX2" fmla="*/ 54769 w 897732"/>
              <a:gd name="connsiteY2" fmla="*/ 671513 h 671513"/>
              <a:gd name="connsiteX3" fmla="*/ 840582 w 897732"/>
              <a:gd name="connsiteY3" fmla="*/ 671513 h 671513"/>
              <a:gd name="connsiteX4" fmla="*/ 897732 w 897732"/>
              <a:gd name="connsiteY4" fmla="*/ 614363 h 671513"/>
              <a:gd name="connsiteX5" fmla="*/ 897732 w 897732"/>
              <a:gd name="connsiteY5" fmla="*/ 52388 h 671513"/>
              <a:gd name="connsiteX6" fmla="*/ 828675 w 897732"/>
              <a:gd name="connsiteY6" fmla="*/ 0 h 671513"/>
              <a:gd name="connsiteX7" fmla="*/ 45244 w 897732"/>
              <a:gd name="connsiteY7" fmla="*/ 261938 h 671513"/>
              <a:gd name="connsiteX8" fmla="*/ 0 w 897732"/>
              <a:gd name="connsiteY8" fmla="*/ 314325 h 671513"/>
              <a:gd name="connsiteX0" fmla="*/ 0 w 902120"/>
              <a:gd name="connsiteY0" fmla="*/ 321495 h 678683"/>
              <a:gd name="connsiteX1" fmla="*/ 0 w 902120"/>
              <a:gd name="connsiteY1" fmla="*/ 614389 h 678683"/>
              <a:gd name="connsiteX2" fmla="*/ 54769 w 902120"/>
              <a:gd name="connsiteY2" fmla="*/ 678683 h 678683"/>
              <a:gd name="connsiteX3" fmla="*/ 840582 w 902120"/>
              <a:gd name="connsiteY3" fmla="*/ 678683 h 678683"/>
              <a:gd name="connsiteX4" fmla="*/ 897732 w 902120"/>
              <a:gd name="connsiteY4" fmla="*/ 621533 h 678683"/>
              <a:gd name="connsiteX5" fmla="*/ 897732 w 902120"/>
              <a:gd name="connsiteY5" fmla="*/ 59558 h 678683"/>
              <a:gd name="connsiteX6" fmla="*/ 828675 w 902120"/>
              <a:gd name="connsiteY6" fmla="*/ 7170 h 678683"/>
              <a:gd name="connsiteX7" fmla="*/ 45244 w 902120"/>
              <a:gd name="connsiteY7" fmla="*/ 269108 h 678683"/>
              <a:gd name="connsiteX8" fmla="*/ 0 w 902120"/>
              <a:gd name="connsiteY8" fmla="*/ 321495 h 678683"/>
              <a:gd name="connsiteX0" fmla="*/ 0 w 903259"/>
              <a:gd name="connsiteY0" fmla="*/ 334803 h 691991"/>
              <a:gd name="connsiteX1" fmla="*/ 0 w 903259"/>
              <a:gd name="connsiteY1" fmla="*/ 627697 h 691991"/>
              <a:gd name="connsiteX2" fmla="*/ 54769 w 903259"/>
              <a:gd name="connsiteY2" fmla="*/ 691991 h 691991"/>
              <a:gd name="connsiteX3" fmla="*/ 840582 w 903259"/>
              <a:gd name="connsiteY3" fmla="*/ 691991 h 691991"/>
              <a:gd name="connsiteX4" fmla="*/ 897732 w 903259"/>
              <a:gd name="connsiteY4" fmla="*/ 634841 h 691991"/>
              <a:gd name="connsiteX5" fmla="*/ 897732 w 903259"/>
              <a:gd name="connsiteY5" fmla="*/ 72866 h 691991"/>
              <a:gd name="connsiteX6" fmla="*/ 828675 w 903259"/>
              <a:gd name="connsiteY6" fmla="*/ 20478 h 691991"/>
              <a:gd name="connsiteX7" fmla="*/ 45244 w 903259"/>
              <a:gd name="connsiteY7" fmla="*/ 282416 h 691991"/>
              <a:gd name="connsiteX8" fmla="*/ 0 w 903259"/>
              <a:gd name="connsiteY8" fmla="*/ 334803 h 691991"/>
              <a:gd name="connsiteX0" fmla="*/ 0 w 902430"/>
              <a:gd name="connsiteY0" fmla="*/ 326084 h 683272"/>
              <a:gd name="connsiteX1" fmla="*/ 0 w 902430"/>
              <a:gd name="connsiteY1" fmla="*/ 618978 h 683272"/>
              <a:gd name="connsiteX2" fmla="*/ 54769 w 902430"/>
              <a:gd name="connsiteY2" fmla="*/ 683272 h 683272"/>
              <a:gd name="connsiteX3" fmla="*/ 840582 w 902430"/>
              <a:gd name="connsiteY3" fmla="*/ 683272 h 683272"/>
              <a:gd name="connsiteX4" fmla="*/ 897732 w 902430"/>
              <a:gd name="connsiteY4" fmla="*/ 626122 h 683272"/>
              <a:gd name="connsiteX5" fmla="*/ 897732 w 902430"/>
              <a:gd name="connsiteY5" fmla="*/ 64147 h 683272"/>
              <a:gd name="connsiteX6" fmla="*/ 828675 w 902430"/>
              <a:gd name="connsiteY6" fmla="*/ 11759 h 683272"/>
              <a:gd name="connsiteX7" fmla="*/ 45244 w 902430"/>
              <a:gd name="connsiteY7" fmla="*/ 273697 h 683272"/>
              <a:gd name="connsiteX8" fmla="*/ 0 w 902430"/>
              <a:gd name="connsiteY8" fmla="*/ 326084 h 683272"/>
              <a:gd name="connsiteX0" fmla="*/ 0 w 898864"/>
              <a:gd name="connsiteY0" fmla="*/ 327341 h 684529"/>
              <a:gd name="connsiteX1" fmla="*/ 0 w 898864"/>
              <a:gd name="connsiteY1" fmla="*/ 620235 h 684529"/>
              <a:gd name="connsiteX2" fmla="*/ 54769 w 898864"/>
              <a:gd name="connsiteY2" fmla="*/ 684529 h 684529"/>
              <a:gd name="connsiteX3" fmla="*/ 840582 w 898864"/>
              <a:gd name="connsiteY3" fmla="*/ 684529 h 684529"/>
              <a:gd name="connsiteX4" fmla="*/ 897732 w 898864"/>
              <a:gd name="connsiteY4" fmla="*/ 627379 h 684529"/>
              <a:gd name="connsiteX5" fmla="*/ 897732 w 898864"/>
              <a:gd name="connsiteY5" fmla="*/ 65404 h 684529"/>
              <a:gd name="connsiteX6" fmla="*/ 828675 w 898864"/>
              <a:gd name="connsiteY6" fmla="*/ 13016 h 684529"/>
              <a:gd name="connsiteX7" fmla="*/ 45244 w 898864"/>
              <a:gd name="connsiteY7" fmla="*/ 274954 h 684529"/>
              <a:gd name="connsiteX8" fmla="*/ 0 w 898864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1654 w 902516"/>
              <a:gd name="connsiteY0" fmla="*/ 327341 h 684529"/>
              <a:gd name="connsiteX1" fmla="*/ 1654 w 902516"/>
              <a:gd name="connsiteY1" fmla="*/ 620235 h 684529"/>
              <a:gd name="connsiteX2" fmla="*/ 56423 w 902516"/>
              <a:gd name="connsiteY2" fmla="*/ 684529 h 684529"/>
              <a:gd name="connsiteX3" fmla="*/ 842236 w 902516"/>
              <a:gd name="connsiteY3" fmla="*/ 684529 h 684529"/>
              <a:gd name="connsiteX4" fmla="*/ 899386 w 902516"/>
              <a:gd name="connsiteY4" fmla="*/ 627379 h 684529"/>
              <a:gd name="connsiteX5" fmla="*/ 899386 w 902516"/>
              <a:gd name="connsiteY5" fmla="*/ 65404 h 684529"/>
              <a:gd name="connsiteX6" fmla="*/ 830329 w 902516"/>
              <a:gd name="connsiteY6" fmla="*/ 13016 h 684529"/>
              <a:gd name="connsiteX7" fmla="*/ 46898 w 902516"/>
              <a:gd name="connsiteY7" fmla="*/ 274954 h 684529"/>
              <a:gd name="connsiteX8" fmla="*/ 1654 w 902516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0 w 900862"/>
              <a:gd name="connsiteY0" fmla="*/ 327341 h 684529"/>
              <a:gd name="connsiteX1" fmla="*/ 0 w 900862"/>
              <a:gd name="connsiteY1" fmla="*/ 620235 h 684529"/>
              <a:gd name="connsiteX2" fmla="*/ 54769 w 900862"/>
              <a:gd name="connsiteY2" fmla="*/ 684529 h 684529"/>
              <a:gd name="connsiteX3" fmla="*/ 840582 w 900862"/>
              <a:gd name="connsiteY3" fmla="*/ 684529 h 684529"/>
              <a:gd name="connsiteX4" fmla="*/ 897732 w 900862"/>
              <a:gd name="connsiteY4" fmla="*/ 627379 h 684529"/>
              <a:gd name="connsiteX5" fmla="*/ 897732 w 900862"/>
              <a:gd name="connsiteY5" fmla="*/ 65404 h 684529"/>
              <a:gd name="connsiteX6" fmla="*/ 828675 w 900862"/>
              <a:gd name="connsiteY6" fmla="*/ 13016 h 684529"/>
              <a:gd name="connsiteX7" fmla="*/ 45244 w 900862"/>
              <a:gd name="connsiteY7" fmla="*/ 274954 h 684529"/>
              <a:gd name="connsiteX8" fmla="*/ 0 w 900862"/>
              <a:gd name="connsiteY8" fmla="*/ 327341 h 684529"/>
              <a:gd name="connsiteX0" fmla="*/ 501 w 901363"/>
              <a:gd name="connsiteY0" fmla="*/ 327341 h 684529"/>
              <a:gd name="connsiteX1" fmla="*/ 501 w 901363"/>
              <a:gd name="connsiteY1" fmla="*/ 620235 h 684529"/>
              <a:gd name="connsiteX2" fmla="*/ 55270 w 901363"/>
              <a:gd name="connsiteY2" fmla="*/ 684529 h 684529"/>
              <a:gd name="connsiteX3" fmla="*/ 841083 w 901363"/>
              <a:gd name="connsiteY3" fmla="*/ 684529 h 684529"/>
              <a:gd name="connsiteX4" fmla="*/ 898233 w 901363"/>
              <a:gd name="connsiteY4" fmla="*/ 627379 h 684529"/>
              <a:gd name="connsiteX5" fmla="*/ 898233 w 901363"/>
              <a:gd name="connsiteY5" fmla="*/ 65404 h 684529"/>
              <a:gd name="connsiteX6" fmla="*/ 829176 w 901363"/>
              <a:gd name="connsiteY6" fmla="*/ 13016 h 684529"/>
              <a:gd name="connsiteX7" fmla="*/ 45745 w 901363"/>
              <a:gd name="connsiteY7" fmla="*/ 274954 h 684529"/>
              <a:gd name="connsiteX8" fmla="*/ 501 w 901363"/>
              <a:gd name="connsiteY8" fmla="*/ 327341 h 684529"/>
              <a:gd name="connsiteX0" fmla="*/ 712 w 901574"/>
              <a:gd name="connsiteY0" fmla="*/ 327341 h 688517"/>
              <a:gd name="connsiteX1" fmla="*/ 712 w 901574"/>
              <a:gd name="connsiteY1" fmla="*/ 620235 h 688517"/>
              <a:gd name="connsiteX2" fmla="*/ 55481 w 901574"/>
              <a:gd name="connsiteY2" fmla="*/ 684529 h 688517"/>
              <a:gd name="connsiteX3" fmla="*/ 841294 w 901574"/>
              <a:gd name="connsiteY3" fmla="*/ 684529 h 688517"/>
              <a:gd name="connsiteX4" fmla="*/ 898444 w 901574"/>
              <a:gd name="connsiteY4" fmla="*/ 627379 h 688517"/>
              <a:gd name="connsiteX5" fmla="*/ 898444 w 901574"/>
              <a:gd name="connsiteY5" fmla="*/ 65404 h 688517"/>
              <a:gd name="connsiteX6" fmla="*/ 829387 w 901574"/>
              <a:gd name="connsiteY6" fmla="*/ 13016 h 688517"/>
              <a:gd name="connsiteX7" fmla="*/ 45956 w 901574"/>
              <a:gd name="connsiteY7" fmla="*/ 274954 h 688517"/>
              <a:gd name="connsiteX8" fmla="*/ 712 w 901574"/>
              <a:gd name="connsiteY8" fmla="*/ 327341 h 688517"/>
              <a:gd name="connsiteX0" fmla="*/ 892 w 901754"/>
              <a:gd name="connsiteY0" fmla="*/ 327341 h 684529"/>
              <a:gd name="connsiteX1" fmla="*/ 892 w 901754"/>
              <a:gd name="connsiteY1" fmla="*/ 620235 h 684529"/>
              <a:gd name="connsiteX2" fmla="*/ 55661 w 901754"/>
              <a:gd name="connsiteY2" fmla="*/ 684529 h 684529"/>
              <a:gd name="connsiteX3" fmla="*/ 841474 w 901754"/>
              <a:gd name="connsiteY3" fmla="*/ 684529 h 684529"/>
              <a:gd name="connsiteX4" fmla="*/ 898624 w 901754"/>
              <a:gd name="connsiteY4" fmla="*/ 627379 h 684529"/>
              <a:gd name="connsiteX5" fmla="*/ 898624 w 901754"/>
              <a:gd name="connsiteY5" fmla="*/ 65404 h 684529"/>
              <a:gd name="connsiteX6" fmla="*/ 829567 w 901754"/>
              <a:gd name="connsiteY6" fmla="*/ 13016 h 684529"/>
              <a:gd name="connsiteX7" fmla="*/ 46136 w 901754"/>
              <a:gd name="connsiteY7" fmla="*/ 274954 h 684529"/>
              <a:gd name="connsiteX8" fmla="*/ 892 w 901754"/>
              <a:gd name="connsiteY8" fmla="*/ 327341 h 684529"/>
              <a:gd name="connsiteX0" fmla="*/ 478 w 901340"/>
              <a:gd name="connsiteY0" fmla="*/ 327341 h 684529"/>
              <a:gd name="connsiteX1" fmla="*/ 478 w 901340"/>
              <a:gd name="connsiteY1" fmla="*/ 620235 h 684529"/>
              <a:gd name="connsiteX2" fmla="*/ 55247 w 901340"/>
              <a:gd name="connsiteY2" fmla="*/ 684529 h 684529"/>
              <a:gd name="connsiteX3" fmla="*/ 841060 w 901340"/>
              <a:gd name="connsiteY3" fmla="*/ 684529 h 684529"/>
              <a:gd name="connsiteX4" fmla="*/ 898210 w 901340"/>
              <a:gd name="connsiteY4" fmla="*/ 627379 h 684529"/>
              <a:gd name="connsiteX5" fmla="*/ 898210 w 901340"/>
              <a:gd name="connsiteY5" fmla="*/ 65404 h 684529"/>
              <a:gd name="connsiteX6" fmla="*/ 829153 w 901340"/>
              <a:gd name="connsiteY6" fmla="*/ 13016 h 684529"/>
              <a:gd name="connsiteX7" fmla="*/ 45722 w 901340"/>
              <a:gd name="connsiteY7" fmla="*/ 274954 h 684529"/>
              <a:gd name="connsiteX8" fmla="*/ 478 w 901340"/>
              <a:gd name="connsiteY8" fmla="*/ 327341 h 684529"/>
              <a:gd name="connsiteX0" fmla="*/ 268 w 901130"/>
              <a:gd name="connsiteY0" fmla="*/ 327341 h 689292"/>
              <a:gd name="connsiteX1" fmla="*/ 268 w 901130"/>
              <a:gd name="connsiteY1" fmla="*/ 620235 h 689292"/>
              <a:gd name="connsiteX2" fmla="*/ 93137 w 901130"/>
              <a:gd name="connsiteY2" fmla="*/ 689292 h 689292"/>
              <a:gd name="connsiteX3" fmla="*/ 840850 w 901130"/>
              <a:gd name="connsiteY3" fmla="*/ 684529 h 689292"/>
              <a:gd name="connsiteX4" fmla="*/ 898000 w 901130"/>
              <a:gd name="connsiteY4" fmla="*/ 627379 h 689292"/>
              <a:gd name="connsiteX5" fmla="*/ 898000 w 901130"/>
              <a:gd name="connsiteY5" fmla="*/ 65404 h 689292"/>
              <a:gd name="connsiteX6" fmla="*/ 828943 w 901130"/>
              <a:gd name="connsiteY6" fmla="*/ 13016 h 689292"/>
              <a:gd name="connsiteX7" fmla="*/ 45512 w 901130"/>
              <a:gd name="connsiteY7" fmla="*/ 274954 h 689292"/>
              <a:gd name="connsiteX8" fmla="*/ 268 w 901130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1075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1355"/>
              <a:gd name="connsiteY0" fmla="*/ 327341 h 689292"/>
              <a:gd name="connsiteX1" fmla="*/ 493 w 901355"/>
              <a:gd name="connsiteY1" fmla="*/ 620235 h 689292"/>
              <a:gd name="connsiteX2" fmla="*/ 93362 w 901355"/>
              <a:gd name="connsiteY2" fmla="*/ 689292 h 689292"/>
              <a:gd name="connsiteX3" fmla="*/ 848219 w 901355"/>
              <a:gd name="connsiteY3" fmla="*/ 684529 h 689292"/>
              <a:gd name="connsiteX4" fmla="*/ 898225 w 901355"/>
              <a:gd name="connsiteY4" fmla="*/ 627379 h 689292"/>
              <a:gd name="connsiteX5" fmla="*/ 898225 w 901355"/>
              <a:gd name="connsiteY5" fmla="*/ 65404 h 689292"/>
              <a:gd name="connsiteX6" fmla="*/ 829168 w 901355"/>
              <a:gd name="connsiteY6" fmla="*/ 13016 h 689292"/>
              <a:gd name="connsiteX7" fmla="*/ 45737 w 901355"/>
              <a:gd name="connsiteY7" fmla="*/ 274954 h 689292"/>
              <a:gd name="connsiteX8" fmla="*/ 493 w 901355"/>
              <a:gd name="connsiteY8" fmla="*/ 327341 h 689292"/>
              <a:gd name="connsiteX0" fmla="*/ 493 w 907750"/>
              <a:gd name="connsiteY0" fmla="*/ 327341 h 689292"/>
              <a:gd name="connsiteX1" fmla="*/ 493 w 907750"/>
              <a:gd name="connsiteY1" fmla="*/ 620235 h 689292"/>
              <a:gd name="connsiteX2" fmla="*/ 93362 w 907750"/>
              <a:gd name="connsiteY2" fmla="*/ 689292 h 689292"/>
              <a:gd name="connsiteX3" fmla="*/ 848219 w 907750"/>
              <a:gd name="connsiteY3" fmla="*/ 684529 h 689292"/>
              <a:gd name="connsiteX4" fmla="*/ 907750 w 907750"/>
              <a:gd name="connsiteY4" fmla="*/ 627379 h 689292"/>
              <a:gd name="connsiteX5" fmla="*/ 898225 w 907750"/>
              <a:gd name="connsiteY5" fmla="*/ 65404 h 689292"/>
              <a:gd name="connsiteX6" fmla="*/ 829168 w 907750"/>
              <a:gd name="connsiteY6" fmla="*/ 13016 h 689292"/>
              <a:gd name="connsiteX7" fmla="*/ 45737 w 907750"/>
              <a:gd name="connsiteY7" fmla="*/ 274954 h 689292"/>
              <a:gd name="connsiteX8" fmla="*/ 493 w 907750"/>
              <a:gd name="connsiteY8" fmla="*/ 327341 h 689292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9294"/>
              <a:gd name="connsiteY0" fmla="*/ 328690 h 690641"/>
              <a:gd name="connsiteX1" fmla="*/ 493 w 909294"/>
              <a:gd name="connsiteY1" fmla="*/ 621584 h 690641"/>
              <a:gd name="connsiteX2" fmla="*/ 93362 w 909294"/>
              <a:gd name="connsiteY2" fmla="*/ 690641 h 690641"/>
              <a:gd name="connsiteX3" fmla="*/ 848219 w 909294"/>
              <a:gd name="connsiteY3" fmla="*/ 685878 h 690641"/>
              <a:gd name="connsiteX4" fmla="*/ 907750 w 909294"/>
              <a:gd name="connsiteY4" fmla="*/ 628728 h 690641"/>
              <a:gd name="connsiteX5" fmla="*/ 898225 w 909294"/>
              <a:gd name="connsiteY5" fmla="*/ 66753 h 690641"/>
              <a:gd name="connsiteX6" fmla="*/ 829168 w 909294"/>
              <a:gd name="connsiteY6" fmla="*/ 14365 h 690641"/>
              <a:gd name="connsiteX7" fmla="*/ 45737 w 909294"/>
              <a:gd name="connsiteY7" fmla="*/ 276303 h 690641"/>
              <a:gd name="connsiteX8" fmla="*/ 493 w 909294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628728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07750"/>
              <a:gd name="connsiteY0" fmla="*/ 328690 h 690641"/>
              <a:gd name="connsiteX1" fmla="*/ 493 w 907750"/>
              <a:gd name="connsiteY1" fmla="*/ 621584 h 690641"/>
              <a:gd name="connsiteX2" fmla="*/ 93362 w 907750"/>
              <a:gd name="connsiteY2" fmla="*/ 690641 h 690641"/>
              <a:gd name="connsiteX3" fmla="*/ 848219 w 907750"/>
              <a:gd name="connsiteY3" fmla="*/ 685878 h 690641"/>
              <a:gd name="connsiteX4" fmla="*/ 907750 w 907750"/>
              <a:gd name="connsiteY4" fmla="*/ 578722 h 690641"/>
              <a:gd name="connsiteX5" fmla="*/ 898225 w 907750"/>
              <a:gd name="connsiteY5" fmla="*/ 66753 h 690641"/>
              <a:gd name="connsiteX6" fmla="*/ 829168 w 907750"/>
              <a:gd name="connsiteY6" fmla="*/ 14365 h 690641"/>
              <a:gd name="connsiteX7" fmla="*/ 45737 w 907750"/>
              <a:gd name="connsiteY7" fmla="*/ 276303 h 690641"/>
              <a:gd name="connsiteX8" fmla="*/ 493 w 907750"/>
              <a:gd name="connsiteY8" fmla="*/ 328690 h 690641"/>
              <a:gd name="connsiteX0" fmla="*/ 493 w 910346"/>
              <a:gd name="connsiteY0" fmla="*/ 328690 h 690641"/>
              <a:gd name="connsiteX1" fmla="*/ 493 w 910346"/>
              <a:gd name="connsiteY1" fmla="*/ 621584 h 690641"/>
              <a:gd name="connsiteX2" fmla="*/ 93362 w 910346"/>
              <a:gd name="connsiteY2" fmla="*/ 690641 h 690641"/>
              <a:gd name="connsiteX3" fmla="*/ 848219 w 910346"/>
              <a:gd name="connsiteY3" fmla="*/ 685878 h 690641"/>
              <a:gd name="connsiteX4" fmla="*/ 907750 w 910346"/>
              <a:gd name="connsiteY4" fmla="*/ 578722 h 690641"/>
              <a:gd name="connsiteX5" fmla="*/ 898225 w 910346"/>
              <a:gd name="connsiteY5" fmla="*/ 66753 h 690641"/>
              <a:gd name="connsiteX6" fmla="*/ 829168 w 910346"/>
              <a:gd name="connsiteY6" fmla="*/ 14365 h 690641"/>
              <a:gd name="connsiteX7" fmla="*/ 45737 w 910346"/>
              <a:gd name="connsiteY7" fmla="*/ 276303 h 690641"/>
              <a:gd name="connsiteX8" fmla="*/ 493 w 910346"/>
              <a:gd name="connsiteY8" fmla="*/ 328690 h 690641"/>
              <a:gd name="connsiteX0" fmla="*/ 493 w 908243"/>
              <a:gd name="connsiteY0" fmla="*/ 328690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28690 h 690641"/>
              <a:gd name="connsiteX0" fmla="*/ 493 w 908243"/>
              <a:gd name="connsiteY0" fmla="*/ 359647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9647 h 690641"/>
              <a:gd name="connsiteX0" fmla="*/ 493 w 908243"/>
              <a:gd name="connsiteY0" fmla="*/ 354885 h 690641"/>
              <a:gd name="connsiteX1" fmla="*/ 493 w 908243"/>
              <a:gd name="connsiteY1" fmla="*/ 621584 h 690641"/>
              <a:gd name="connsiteX2" fmla="*/ 93362 w 908243"/>
              <a:gd name="connsiteY2" fmla="*/ 690641 h 690641"/>
              <a:gd name="connsiteX3" fmla="*/ 848219 w 908243"/>
              <a:gd name="connsiteY3" fmla="*/ 685878 h 690641"/>
              <a:gd name="connsiteX4" fmla="*/ 907750 w 908243"/>
              <a:gd name="connsiteY4" fmla="*/ 578722 h 690641"/>
              <a:gd name="connsiteX5" fmla="*/ 898225 w 908243"/>
              <a:gd name="connsiteY5" fmla="*/ 66753 h 690641"/>
              <a:gd name="connsiteX6" fmla="*/ 829168 w 908243"/>
              <a:gd name="connsiteY6" fmla="*/ 14365 h 690641"/>
              <a:gd name="connsiteX7" fmla="*/ 45737 w 908243"/>
              <a:gd name="connsiteY7" fmla="*/ 276303 h 690641"/>
              <a:gd name="connsiteX8" fmla="*/ 493 w 908243"/>
              <a:gd name="connsiteY8" fmla="*/ 354885 h 690641"/>
              <a:gd name="connsiteX0" fmla="*/ 1323 w 909073"/>
              <a:gd name="connsiteY0" fmla="*/ 354885 h 690641"/>
              <a:gd name="connsiteX1" fmla="*/ 1323 w 909073"/>
              <a:gd name="connsiteY1" fmla="*/ 621584 h 690641"/>
              <a:gd name="connsiteX2" fmla="*/ 94192 w 909073"/>
              <a:gd name="connsiteY2" fmla="*/ 690641 h 690641"/>
              <a:gd name="connsiteX3" fmla="*/ 849049 w 909073"/>
              <a:gd name="connsiteY3" fmla="*/ 685878 h 690641"/>
              <a:gd name="connsiteX4" fmla="*/ 908580 w 909073"/>
              <a:gd name="connsiteY4" fmla="*/ 578722 h 690641"/>
              <a:gd name="connsiteX5" fmla="*/ 899055 w 909073"/>
              <a:gd name="connsiteY5" fmla="*/ 66753 h 690641"/>
              <a:gd name="connsiteX6" fmla="*/ 829998 w 909073"/>
              <a:gd name="connsiteY6" fmla="*/ 14365 h 690641"/>
              <a:gd name="connsiteX7" fmla="*/ 46567 w 909073"/>
              <a:gd name="connsiteY7" fmla="*/ 276303 h 690641"/>
              <a:gd name="connsiteX8" fmla="*/ 1323 w 909073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494 w 908244"/>
              <a:gd name="connsiteY0" fmla="*/ 354885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54885 h 690641"/>
              <a:gd name="connsiteX0" fmla="*/ 1322 w 909072"/>
              <a:gd name="connsiteY0" fmla="*/ 354885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54885 h 690641"/>
              <a:gd name="connsiteX0" fmla="*/ 1322 w 909072"/>
              <a:gd name="connsiteY0" fmla="*/ 385842 h 690641"/>
              <a:gd name="connsiteX1" fmla="*/ 1322 w 909072"/>
              <a:gd name="connsiteY1" fmla="*/ 621584 h 690641"/>
              <a:gd name="connsiteX2" fmla="*/ 94191 w 909072"/>
              <a:gd name="connsiteY2" fmla="*/ 690641 h 690641"/>
              <a:gd name="connsiteX3" fmla="*/ 849048 w 909072"/>
              <a:gd name="connsiteY3" fmla="*/ 685878 h 690641"/>
              <a:gd name="connsiteX4" fmla="*/ 908579 w 909072"/>
              <a:gd name="connsiteY4" fmla="*/ 578722 h 690641"/>
              <a:gd name="connsiteX5" fmla="*/ 899054 w 909072"/>
              <a:gd name="connsiteY5" fmla="*/ 66753 h 690641"/>
              <a:gd name="connsiteX6" fmla="*/ 829997 w 909072"/>
              <a:gd name="connsiteY6" fmla="*/ 14365 h 690641"/>
              <a:gd name="connsiteX7" fmla="*/ 46566 w 909072"/>
              <a:gd name="connsiteY7" fmla="*/ 276303 h 690641"/>
              <a:gd name="connsiteX8" fmla="*/ 1322 w 909072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621584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494 w 908244"/>
              <a:gd name="connsiteY0" fmla="*/ 385842 h 690641"/>
              <a:gd name="connsiteX1" fmla="*/ 494 w 908244"/>
              <a:gd name="connsiteY1" fmla="*/ 595390 h 690641"/>
              <a:gd name="connsiteX2" fmla="*/ 93363 w 908244"/>
              <a:gd name="connsiteY2" fmla="*/ 690641 h 690641"/>
              <a:gd name="connsiteX3" fmla="*/ 848220 w 908244"/>
              <a:gd name="connsiteY3" fmla="*/ 685878 h 690641"/>
              <a:gd name="connsiteX4" fmla="*/ 907751 w 908244"/>
              <a:gd name="connsiteY4" fmla="*/ 578722 h 690641"/>
              <a:gd name="connsiteX5" fmla="*/ 898226 w 908244"/>
              <a:gd name="connsiteY5" fmla="*/ 66753 h 690641"/>
              <a:gd name="connsiteX6" fmla="*/ 829169 w 908244"/>
              <a:gd name="connsiteY6" fmla="*/ 14365 h 690641"/>
              <a:gd name="connsiteX7" fmla="*/ 45738 w 908244"/>
              <a:gd name="connsiteY7" fmla="*/ 276303 h 690641"/>
              <a:gd name="connsiteX8" fmla="*/ 494 w 908244"/>
              <a:gd name="connsiteY8" fmla="*/ 385842 h 690641"/>
              <a:gd name="connsiteX0" fmla="*/ 920 w 908670"/>
              <a:gd name="connsiteY0" fmla="*/ 385842 h 690641"/>
              <a:gd name="connsiteX1" fmla="*/ 920 w 908670"/>
              <a:gd name="connsiteY1" fmla="*/ 595390 h 690641"/>
              <a:gd name="connsiteX2" fmla="*/ 93789 w 908670"/>
              <a:gd name="connsiteY2" fmla="*/ 690641 h 690641"/>
              <a:gd name="connsiteX3" fmla="*/ 848646 w 908670"/>
              <a:gd name="connsiteY3" fmla="*/ 685878 h 690641"/>
              <a:gd name="connsiteX4" fmla="*/ 908177 w 908670"/>
              <a:gd name="connsiteY4" fmla="*/ 578722 h 690641"/>
              <a:gd name="connsiteX5" fmla="*/ 898652 w 908670"/>
              <a:gd name="connsiteY5" fmla="*/ 66753 h 690641"/>
              <a:gd name="connsiteX6" fmla="*/ 829595 w 908670"/>
              <a:gd name="connsiteY6" fmla="*/ 14365 h 690641"/>
              <a:gd name="connsiteX7" fmla="*/ 46164 w 908670"/>
              <a:gd name="connsiteY7" fmla="*/ 276303 h 690641"/>
              <a:gd name="connsiteX8" fmla="*/ 920 w 908670"/>
              <a:gd name="connsiteY8" fmla="*/ 385842 h 690641"/>
              <a:gd name="connsiteX0" fmla="*/ 882 w 908632"/>
              <a:gd name="connsiteY0" fmla="*/ 385842 h 694528"/>
              <a:gd name="connsiteX1" fmla="*/ 882 w 908632"/>
              <a:gd name="connsiteY1" fmla="*/ 595390 h 694528"/>
              <a:gd name="connsiteX2" fmla="*/ 93751 w 908632"/>
              <a:gd name="connsiteY2" fmla="*/ 690641 h 694528"/>
              <a:gd name="connsiteX3" fmla="*/ 848608 w 908632"/>
              <a:gd name="connsiteY3" fmla="*/ 685878 h 694528"/>
              <a:gd name="connsiteX4" fmla="*/ 908139 w 908632"/>
              <a:gd name="connsiteY4" fmla="*/ 578722 h 694528"/>
              <a:gd name="connsiteX5" fmla="*/ 898614 w 908632"/>
              <a:gd name="connsiteY5" fmla="*/ 66753 h 694528"/>
              <a:gd name="connsiteX6" fmla="*/ 829557 w 908632"/>
              <a:gd name="connsiteY6" fmla="*/ 14365 h 694528"/>
              <a:gd name="connsiteX7" fmla="*/ 46126 w 908632"/>
              <a:gd name="connsiteY7" fmla="*/ 276303 h 694528"/>
              <a:gd name="connsiteX8" fmla="*/ 882 w 908632"/>
              <a:gd name="connsiteY8" fmla="*/ 385842 h 694528"/>
              <a:gd name="connsiteX0" fmla="*/ 882 w 908632"/>
              <a:gd name="connsiteY0" fmla="*/ 385842 h 691355"/>
              <a:gd name="connsiteX1" fmla="*/ 882 w 908632"/>
              <a:gd name="connsiteY1" fmla="*/ 595390 h 691355"/>
              <a:gd name="connsiteX2" fmla="*/ 93751 w 908632"/>
              <a:gd name="connsiteY2" fmla="*/ 690641 h 691355"/>
              <a:gd name="connsiteX3" fmla="*/ 848608 w 908632"/>
              <a:gd name="connsiteY3" fmla="*/ 685878 h 691355"/>
              <a:gd name="connsiteX4" fmla="*/ 908139 w 908632"/>
              <a:gd name="connsiteY4" fmla="*/ 578722 h 691355"/>
              <a:gd name="connsiteX5" fmla="*/ 898614 w 908632"/>
              <a:gd name="connsiteY5" fmla="*/ 66753 h 691355"/>
              <a:gd name="connsiteX6" fmla="*/ 829557 w 908632"/>
              <a:gd name="connsiteY6" fmla="*/ 14365 h 691355"/>
              <a:gd name="connsiteX7" fmla="*/ 46126 w 908632"/>
              <a:gd name="connsiteY7" fmla="*/ 276303 h 691355"/>
              <a:gd name="connsiteX8" fmla="*/ 882 w 908632"/>
              <a:gd name="connsiteY8" fmla="*/ 385842 h 691355"/>
              <a:gd name="connsiteX0" fmla="*/ 882 w 908632"/>
              <a:gd name="connsiteY0" fmla="*/ 385842 h 690641"/>
              <a:gd name="connsiteX1" fmla="*/ 882 w 908632"/>
              <a:gd name="connsiteY1" fmla="*/ 595390 h 690641"/>
              <a:gd name="connsiteX2" fmla="*/ 93751 w 908632"/>
              <a:gd name="connsiteY2" fmla="*/ 690641 h 690641"/>
              <a:gd name="connsiteX3" fmla="*/ 848608 w 908632"/>
              <a:gd name="connsiteY3" fmla="*/ 685878 h 690641"/>
              <a:gd name="connsiteX4" fmla="*/ 908139 w 908632"/>
              <a:gd name="connsiteY4" fmla="*/ 578722 h 690641"/>
              <a:gd name="connsiteX5" fmla="*/ 898614 w 908632"/>
              <a:gd name="connsiteY5" fmla="*/ 66753 h 690641"/>
              <a:gd name="connsiteX6" fmla="*/ 829557 w 908632"/>
              <a:gd name="connsiteY6" fmla="*/ 14365 h 690641"/>
              <a:gd name="connsiteX7" fmla="*/ 46126 w 908632"/>
              <a:gd name="connsiteY7" fmla="*/ 276303 h 690641"/>
              <a:gd name="connsiteX8" fmla="*/ 882 w 908632"/>
              <a:gd name="connsiteY8" fmla="*/ 385842 h 690641"/>
              <a:gd name="connsiteX0" fmla="*/ 655 w 908405"/>
              <a:gd name="connsiteY0" fmla="*/ 385842 h 690641"/>
              <a:gd name="connsiteX1" fmla="*/ 655 w 908405"/>
              <a:gd name="connsiteY1" fmla="*/ 595390 h 690641"/>
              <a:gd name="connsiteX2" fmla="*/ 112574 w 908405"/>
              <a:gd name="connsiteY2" fmla="*/ 690641 h 690641"/>
              <a:gd name="connsiteX3" fmla="*/ 848381 w 908405"/>
              <a:gd name="connsiteY3" fmla="*/ 685878 h 690641"/>
              <a:gd name="connsiteX4" fmla="*/ 907912 w 908405"/>
              <a:gd name="connsiteY4" fmla="*/ 578722 h 690641"/>
              <a:gd name="connsiteX5" fmla="*/ 898387 w 908405"/>
              <a:gd name="connsiteY5" fmla="*/ 66753 h 690641"/>
              <a:gd name="connsiteX6" fmla="*/ 829330 w 908405"/>
              <a:gd name="connsiteY6" fmla="*/ 14365 h 690641"/>
              <a:gd name="connsiteX7" fmla="*/ 45899 w 908405"/>
              <a:gd name="connsiteY7" fmla="*/ 276303 h 690641"/>
              <a:gd name="connsiteX8" fmla="*/ 655 w 908405"/>
              <a:gd name="connsiteY8" fmla="*/ 385842 h 690641"/>
              <a:gd name="connsiteX0" fmla="*/ 807 w 908557"/>
              <a:gd name="connsiteY0" fmla="*/ 385842 h 692203"/>
              <a:gd name="connsiteX1" fmla="*/ 807 w 908557"/>
              <a:gd name="connsiteY1" fmla="*/ 595390 h 692203"/>
              <a:gd name="connsiteX2" fmla="*/ 112726 w 908557"/>
              <a:gd name="connsiteY2" fmla="*/ 690641 h 692203"/>
              <a:gd name="connsiteX3" fmla="*/ 848533 w 908557"/>
              <a:gd name="connsiteY3" fmla="*/ 685878 h 692203"/>
              <a:gd name="connsiteX4" fmla="*/ 908064 w 908557"/>
              <a:gd name="connsiteY4" fmla="*/ 578722 h 692203"/>
              <a:gd name="connsiteX5" fmla="*/ 898539 w 908557"/>
              <a:gd name="connsiteY5" fmla="*/ 66753 h 692203"/>
              <a:gd name="connsiteX6" fmla="*/ 829482 w 908557"/>
              <a:gd name="connsiteY6" fmla="*/ 14365 h 692203"/>
              <a:gd name="connsiteX7" fmla="*/ 46051 w 908557"/>
              <a:gd name="connsiteY7" fmla="*/ 276303 h 692203"/>
              <a:gd name="connsiteX8" fmla="*/ 807 w 908557"/>
              <a:gd name="connsiteY8" fmla="*/ 385842 h 692203"/>
              <a:gd name="connsiteX0" fmla="*/ 699 w 908449"/>
              <a:gd name="connsiteY0" fmla="*/ 385842 h 692203"/>
              <a:gd name="connsiteX1" fmla="*/ 699 w 908449"/>
              <a:gd name="connsiteY1" fmla="*/ 595390 h 692203"/>
              <a:gd name="connsiteX2" fmla="*/ 112618 w 908449"/>
              <a:gd name="connsiteY2" fmla="*/ 690641 h 692203"/>
              <a:gd name="connsiteX3" fmla="*/ 848425 w 908449"/>
              <a:gd name="connsiteY3" fmla="*/ 685878 h 692203"/>
              <a:gd name="connsiteX4" fmla="*/ 907956 w 908449"/>
              <a:gd name="connsiteY4" fmla="*/ 578722 h 692203"/>
              <a:gd name="connsiteX5" fmla="*/ 898431 w 908449"/>
              <a:gd name="connsiteY5" fmla="*/ 66753 h 692203"/>
              <a:gd name="connsiteX6" fmla="*/ 829374 w 908449"/>
              <a:gd name="connsiteY6" fmla="*/ 14365 h 692203"/>
              <a:gd name="connsiteX7" fmla="*/ 45943 w 908449"/>
              <a:gd name="connsiteY7" fmla="*/ 276303 h 692203"/>
              <a:gd name="connsiteX8" fmla="*/ 699 w 908449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1004"/>
              <a:gd name="connsiteY0" fmla="*/ 385842 h 692203"/>
              <a:gd name="connsiteX1" fmla="*/ 699 w 911004"/>
              <a:gd name="connsiteY1" fmla="*/ 595390 h 692203"/>
              <a:gd name="connsiteX2" fmla="*/ 112618 w 911004"/>
              <a:gd name="connsiteY2" fmla="*/ 690641 h 692203"/>
              <a:gd name="connsiteX3" fmla="*/ 848425 w 911004"/>
              <a:gd name="connsiteY3" fmla="*/ 685878 h 692203"/>
              <a:gd name="connsiteX4" fmla="*/ 907956 w 911004"/>
              <a:gd name="connsiteY4" fmla="*/ 578722 h 692203"/>
              <a:gd name="connsiteX5" fmla="*/ 910534 w 911004"/>
              <a:gd name="connsiteY5" fmla="*/ 66753 h 692203"/>
              <a:gd name="connsiteX6" fmla="*/ 829374 w 911004"/>
              <a:gd name="connsiteY6" fmla="*/ 14365 h 692203"/>
              <a:gd name="connsiteX7" fmla="*/ 45943 w 911004"/>
              <a:gd name="connsiteY7" fmla="*/ 276303 h 692203"/>
              <a:gd name="connsiteX8" fmla="*/ 699 w 911004"/>
              <a:gd name="connsiteY8" fmla="*/ 385842 h 692203"/>
              <a:gd name="connsiteX0" fmla="*/ 699 w 910534"/>
              <a:gd name="connsiteY0" fmla="*/ 386399 h 692760"/>
              <a:gd name="connsiteX1" fmla="*/ 699 w 910534"/>
              <a:gd name="connsiteY1" fmla="*/ 595947 h 692760"/>
              <a:gd name="connsiteX2" fmla="*/ 112618 w 910534"/>
              <a:gd name="connsiteY2" fmla="*/ 691198 h 692760"/>
              <a:gd name="connsiteX3" fmla="*/ 848425 w 910534"/>
              <a:gd name="connsiteY3" fmla="*/ 686435 h 692760"/>
              <a:gd name="connsiteX4" fmla="*/ 907956 w 910534"/>
              <a:gd name="connsiteY4" fmla="*/ 579279 h 692760"/>
              <a:gd name="connsiteX5" fmla="*/ 910534 w 910534"/>
              <a:gd name="connsiteY5" fmla="*/ 67310 h 692760"/>
              <a:gd name="connsiteX6" fmla="*/ 829374 w 910534"/>
              <a:gd name="connsiteY6" fmla="*/ 14922 h 692760"/>
              <a:gd name="connsiteX7" fmla="*/ 45943 w 910534"/>
              <a:gd name="connsiteY7" fmla="*/ 276860 h 692760"/>
              <a:gd name="connsiteX8" fmla="*/ 699 w 910534"/>
              <a:gd name="connsiteY8" fmla="*/ 386399 h 692760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699 w 910534"/>
              <a:gd name="connsiteY0" fmla="*/ 384791 h 691152"/>
              <a:gd name="connsiteX1" fmla="*/ 699 w 910534"/>
              <a:gd name="connsiteY1" fmla="*/ 594339 h 691152"/>
              <a:gd name="connsiteX2" fmla="*/ 112618 w 910534"/>
              <a:gd name="connsiteY2" fmla="*/ 689590 h 691152"/>
              <a:gd name="connsiteX3" fmla="*/ 848425 w 910534"/>
              <a:gd name="connsiteY3" fmla="*/ 684827 h 691152"/>
              <a:gd name="connsiteX4" fmla="*/ 907956 w 910534"/>
              <a:gd name="connsiteY4" fmla="*/ 577671 h 691152"/>
              <a:gd name="connsiteX5" fmla="*/ 910534 w 910534"/>
              <a:gd name="connsiteY5" fmla="*/ 65702 h 691152"/>
              <a:gd name="connsiteX6" fmla="*/ 829374 w 910534"/>
              <a:gd name="connsiteY6" fmla="*/ 13314 h 691152"/>
              <a:gd name="connsiteX7" fmla="*/ 45943 w 910534"/>
              <a:gd name="connsiteY7" fmla="*/ 275252 h 691152"/>
              <a:gd name="connsiteX8" fmla="*/ 699 w 910534"/>
              <a:gd name="connsiteY8" fmla="*/ 384791 h 691152"/>
              <a:gd name="connsiteX0" fmla="*/ 264 w 910099"/>
              <a:gd name="connsiteY0" fmla="*/ 384791 h 691326"/>
              <a:gd name="connsiteX1" fmla="*/ 264 w 910099"/>
              <a:gd name="connsiteY1" fmla="*/ 594339 h 691326"/>
              <a:gd name="connsiteX2" fmla="*/ 112183 w 910099"/>
              <a:gd name="connsiteY2" fmla="*/ 689590 h 691326"/>
              <a:gd name="connsiteX3" fmla="*/ 847990 w 910099"/>
              <a:gd name="connsiteY3" fmla="*/ 684827 h 691326"/>
              <a:gd name="connsiteX4" fmla="*/ 907521 w 910099"/>
              <a:gd name="connsiteY4" fmla="*/ 577671 h 691326"/>
              <a:gd name="connsiteX5" fmla="*/ 910099 w 910099"/>
              <a:gd name="connsiteY5" fmla="*/ 65702 h 691326"/>
              <a:gd name="connsiteX6" fmla="*/ 828939 w 910099"/>
              <a:gd name="connsiteY6" fmla="*/ 13314 h 691326"/>
              <a:gd name="connsiteX7" fmla="*/ 45508 w 910099"/>
              <a:gd name="connsiteY7" fmla="*/ 275252 h 691326"/>
              <a:gd name="connsiteX8" fmla="*/ 264 w 910099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365 w 910200"/>
              <a:gd name="connsiteY0" fmla="*/ 384791 h 691326"/>
              <a:gd name="connsiteX1" fmla="*/ 365 w 910200"/>
              <a:gd name="connsiteY1" fmla="*/ 594339 h 691326"/>
              <a:gd name="connsiteX2" fmla="*/ 112284 w 910200"/>
              <a:gd name="connsiteY2" fmla="*/ 689590 h 691326"/>
              <a:gd name="connsiteX3" fmla="*/ 848091 w 910200"/>
              <a:gd name="connsiteY3" fmla="*/ 684827 h 691326"/>
              <a:gd name="connsiteX4" fmla="*/ 907622 w 910200"/>
              <a:gd name="connsiteY4" fmla="*/ 577671 h 691326"/>
              <a:gd name="connsiteX5" fmla="*/ 910200 w 910200"/>
              <a:gd name="connsiteY5" fmla="*/ 65702 h 691326"/>
              <a:gd name="connsiteX6" fmla="*/ 829040 w 910200"/>
              <a:gd name="connsiteY6" fmla="*/ 13314 h 691326"/>
              <a:gd name="connsiteX7" fmla="*/ 45609 w 910200"/>
              <a:gd name="connsiteY7" fmla="*/ 275252 h 691326"/>
              <a:gd name="connsiteX8" fmla="*/ 365 w 910200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111919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91326"/>
              <a:gd name="connsiteX1" fmla="*/ 0 w 909835"/>
              <a:gd name="connsiteY1" fmla="*/ 594339 h 691326"/>
              <a:gd name="connsiteX2" fmla="*/ 60014 w 909835"/>
              <a:gd name="connsiteY2" fmla="*/ 689590 h 691326"/>
              <a:gd name="connsiteX3" fmla="*/ 847726 w 909835"/>
              <a:gd name="connsiteY3" fmla="*/ 684827 h 691326"/>
              <a:gd name="connsiteX4" fmla="*/ 907257 w 909835"/>
              <a:gd name="connsiteY4" fmla="*/ 577671 h 691326"/>
              <a:gd name="connsiteX5" fmla="*/ 909835 w 909835"/>
              <a:gd name="connsiteY5" fmla="*/ 65702 h 691326"/>
              <a:gd name="connsiteX6" fmla="*/ 828675 w 909835"/>
              <a:gd name="connsiteY6" fmla="*/ 13314 h 691326"/>
              <a:gd name="connsiteX7" fmla="*/ 45244 w 909835"/>
              <a:gd name="connsiteY7" fmla="*/ 275252 h 691326"/>
              <a:gd name="connsiteX8" fmla="*/ 0 w 909835"/>
              <a:gd name="connsiteY8" fmla="*/ 384791 h 691326"/>
              <a:gd name="connsiteX0" fmla="*/ 0 w 909835"/>
              <a:gd name="connsiteY0" fmla="*/ 384791 h 689590"/>
              <a:gd name="connsiteX1" fmla="*/ 0 w 909835"/>
              <a:gd name="connsiteY1" fmla="*/ 594339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4791 h 690195"/>
              <a:gd name="connsiteX1" fmla="*/ 0 w 909835"/>
              <a:gd name="connsiteY1" fmla="*/ 594339 h 690195"/>
              <a:gd name="connsiteX2" fmla="*/ 60014 w 909835"/>
              <a:gd name="connsiteY2" fmla="*/ 689590 h 690195"/>
              <a:gd name="connsiteX3" fmla="*/ 847726 w 909835"/>
              <a:gd name="connsiteY3" fmla="*/ 684827 h 690195"/>
              <a:gd name="connsiteX4" fmla="*/ 907257 w 909835"/>
              <a:gd name="connsiteY4" fmla="*/ 577671 h 690195"/>
              <a:gd name="connsiteX5" fmla="*/ 909835 w 909835"/>
              <a:gd name="connsiteY5" fmla="*/ 65702 h 690195"/>
              <a:gd name="connsiteX6" fmla="*/ 828675 w 909835"/>
              <a:gd name="connsiteY6" fmla="*/ 13314 h 690195"/>
              <a:gd name="connsiteX7" fmla="*/ 45244 w 909835"/>
              <a:gd name="connsiteY7" fmla="*/ 275252 h 690195"/>
              <a:gd name="connsiteX8" fmla="*/ 0 w 909835"/>
              <a:gd name="connsiteY8" fmla="*/ 384791 h 690195"/>
              <a:gd name="connsiteX0" fmla="*/ 0 w 909835"/>
              <a:gd name="connsiteY0" fmla="*/ 384791 h 689590"/>
              <a:gd name="connsiteX1" fmla="*/ 0 w 909835"/>
              <a:gd name="connsiteY1" fmla="*/ 580458 h 689590"/>
              <a:gd name="connsiteX2" fmla="*/ 60014 w 909835"/>
              <a:gd name="connsiteY2" fmla="*/ 689590 h 689590"/>
              <a:gd name="connsiteX3" fmla="*/ 847726 w 909835"/>
              <a:gd name="connsiteY3" fmla="*/ 684827 h 689590"/>
              <a:gd name="connsiteX4" fmla="*/ 907257 w 909835"/>
              <a:gd name="connsiteY4" fmla="*/ 577671 h 689590"/>
              <a:gd name="connsiteX5" fmla="*/ 909835 w 909835"/>
              <a:gd name="connsiteY5" fmla="*/ 65702 h 689590"/>
              <a:gd name="connsiteX6" fmla="*/ 828675 w 909835"/>
              <a:gd name="connsiteY6" fmla="*/ 13314 h 689590"/>
              <a:gd name="connsiteX7" fmla="*/ 45244 w 909835"/>
              <a:gd name="connsiteY7" fmla="*/ 275252 h 689590"/>
              <a:gd name="connsiteX8" fmla="*/ 0 w 909835"/>
              <a:gd name="connsiteY8" fmla="*/ 384791 h 68959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8381 h 693180"/>
              <a:gd name="connsiteX1" fmla="*/ 0 w 909835"/>
              <a:gd name="connsiteY1" fmla="*/ 584048 h 693180"/>
              <a:gd name="connsiteX2" fmla="*/ 60014 w 909835"/>
              <a:gd name="connsiteY2" fmla="*/ 693180 h 693180"/>
              <a:gd name="connsiteX3" fmla="*/ 847726 w 909835"/>
              <a:gd name="connsiteY3" fmla="*/ 688417 h 693180"/>
              <a:gd name="connsiteX4" fmla="*/ 907257 w 909835"/>
              <a:gd name="connsiteY4" fmla="*/ 581261 h 693180"/>
              <a:gd name="connsiteX5" fmla="*/ 909835 w 909835"/>
              <a:gd name="connsiteY5" fmla="*/ 69292 h 693180"/>
              <a:gd name="connsiteX6" fmla="*/ 845679 w 909835"/>
              <a:gd name="connsiteY6" fmla="*/ 11351 h 693180"/>
              <a:gd name="connsiteX7" fmla="*/ 45244 w 909835"/>
              <a:gd name="connsiteY7" fmla="*/ 278842 h 693180"/>
              <a:gd name="connsiteX8" fmla="*/ 0 w 909835"/>
              <a:gd name="connsiteY8" fmla="*/ 388381 h 693180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  <a:gd name="connsiteX0" fmla="*/ 0 w 909835"/>
              <a:gd name="connsiteY0" fmla="*/ 387170 h 691969"/>
              <a:gd name="connsiteX1" fmla="*/ 0 w 909835"/>
              <a:gd name="connsiteY1" fmla="*/ 582837 h 691969"/>
              <a:gd name="connsiteX2" fmla="*/ 60014 w 909835"/>
              <a:gd name="connsiteY2" fmla="*/ 691969 h 691969"/>
              <a:gd name="connsiteX3" fmla="*/ 847726 w 909835"/>
              <a:gd name="connsiteY3" fmla="*/ 687206 h 691969"/>
              <a:gd name="connsiteX4" fmla="*/ 907257 w 909835"/>
              <a:gd name="connsiteY4" fmla="*/ 580050 h 691969"/>
              <a:gd name="connsiteX5" fmla="*/ 909835 w 909835"/>
              <a:gd name="connsiteY5" fmla="*/ 68081 h 691969"/>
              <a:gd name="connsiteX6" fmla="*/ 845679 w 909835"/>
              <a:gd name="connsiteY6" fmla="*/ 10140 h 691969"/>
              <a:gd name="connsiteX7" fmla="*/ 45244 w 909835"/>
              <a:gd name="connsiteY7" fmla="*/ 277631 h 691969"/>
              <a:gd name="connsiteX8" fmla="*/ 0 w 909835"/>
              <a:gd name="connsiteY8" fmla="*/ 387170 h 691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9835" h="691969">
                <a:moveTo>
                  <a:pt x="0" y="387170"/>
                </a:moveTo>
                <a:lnTo>
                  <a:pt x="0" y="582837"/>
                </a:lnTo>
                <a:cubicBezTo>
                  <a:pt x="314" y="693790"/>
                  <a:pt x="2172" y="691574"/>
                  <a:pt x="60014" y="691969"/>
                </a:cubicBezTo>
                <a:lnTo>
                  <a:pt x="847726" y="687206"/>
                </a:lnTo>
                <a:cubicBezTo>
                  <a:pt x="901495" y="687412"/>
                  <a:pt x="901708" y="648353"/>
                  <a:pt x="907257" y="580050"/>
                </a:cubicBezTo>
                <a:cubicBezTo>
                  <a:pt x="908116" y="409394"/>
                  <a:pt x="908976" y="238737"/>
                  <a:pt x="909835" y="68081"/>
                </a:cubicBezTo>
                <a:cubicBezTo>
                  <a:pt x="906309" y="-20324"/>
                  <a:pt x="891944" y="-1567"/>
                  <a:pt x="845679" y="10140"/>
                </a:cubicBezTo>
                <a:lnTo>
                  <a:pt x="45244" y="277631"/>
                </a:lnTo>
                <a:cubicBezTo>
                  <a:pt x="-3528" y="296576"/>
                  <a:pt x="701" y="315148"/>
                  <a:pt x="0" y="38717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168525" y="4609503"/>
            <a:ext cx="6315075" cy="617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a-RU" dirty="0"/>
              <a:t>П</a:t>
            </a:r>
            <a:r>
              <a:rPr lang="ru-RU" dirty="0" err="1"/>
              <a:t>одзаголовок</a:t>
            </a:r>
            <a:endParaRPr lang="ru-RU" dirty="0"/>
          </a:p>
        </p:txBody>
      </p:sp>
      <p:sp>
        <p:nvSpPr>
          <p:cNvPr id="21" name="Подзаголовок 2"/>
          <p:cNvSpPr txBox="1">
            <a:spLocks/>
          </p:cNvSpPr>
          <p:nvPr userDrawn="1"/>
        </p:nvSpPr>
        <p:spPr>
          <a:xfrm>
            <a:off x="10764611" y="6198688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22" name="Прямая соединительная линия 21"/>
          <p:cNvCxnSpPr/>
          <p:nvPr userDrawn="1"/>
        </p:nvCxnSpPr>
        <p:spPr>
          <a:xfrm flipH="1">
            <a:off x="10764611" y="6580776"/>
            <a:ext cx="142738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7E17F2-3CC4-B00E-27FE-B100C036B9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9FE15A-ABDE-7FC7-E24B-5A0EC53B9D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/>
        </p:blipFill>
        <p:spPr>
          <a:xfrm>
            <a:off x="10034963" y="421552"/>
            <a:ext cx="1397100" cy="412477"/>
          </a:xfrm>
          <a:prstGeom prst="rect">
            <a:avLst/>
          </a:prstGeom>
        </p:spPr>
      </p:pic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ACD9C915-F3D9-8FA4-DF80-2B37D2D77359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0478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8BF2FF-A665-4099-BFE7-C09CB3E9A5B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7249" y="504326"/>
            <a:ext cx="2232305" cy="30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73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2119745"/>
            <a:ext cx="11106152" cy="3857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90268" y="1269546"/>
            <a:ext cx="11106432" cy="586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13A6F7-2742-3083-E2DC-794A5C5D8D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0CCBB3D-6731-49C7-EAE6-824574790335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1BB4B61-E532-4DA1-962B-F56555F047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/>
        </p:blipFill>
        <p:spPr>
          <a:xfrm>
            <a:off x="10034963" y="421552"/>
            <a:ext cx="1397100" cy="41247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9BF508-11E7-485C-94FE-DEAD9B3194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7249" y="504326"/>
            <a:ext cx="2232305" cy="30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8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дзаголовок 2"/>
          <p:cNvSpPr txBox="1">
            <a:spLocks/>
          </p:cNvSpPr>
          <p:nvPr userDrawn="1"/>
        </p:nvSpPr>
        <p:spPr>
          <a:xfrm>
            <a:off x="10764611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tx1"/>
                </a:solidFill>
              </a:rPr>
              <a:t>uust.ru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2119745"/>
            <a:ext cx="11106152" cy="3857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90268" y="1269546"/>
            <a:ext cx="11106432" cy="586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13A6F7-2742-3083-E2DC-794A5C5D8D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41" y="490752"/>
            <a:ext cx="2422612" cy="509211"/>
          </a:xfrm>
          <a:prstGeom prst="rect">
            <a:avLst/>
          </a:prstGeom>
        </p:spPr>
      </p:pic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4FCD3AC-B02F-2132-8A13-C81FB32562A1}"/>
              </a:ext>
            </a:extLst>
          </p:cNvPr>
          <p:cNvSpPr txBox="1">
            <a:spLocks/>
          </p:cNvSpPr>
          <p:nvPr userDrawn="1"/>
        </p:nvSpPr>
        <p:spPr>
          <a:xfrm>
            <a:off x="764341" y="6242216"/>
            <a:ext cx="3716219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2">
                    <a:lumMod val="75000"/>
                  </a:schemeClr>
                </a:solidFill>
                <a:effectLst/>
                <a:latin typeface="+mn-lt"/>
              </a:rPr>
              <a:t>изобретая лучшее будущее!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9738000-C44C-4B68-B01E-4AC7BEBC47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3" t="25386" r="10600" b="24799"/>
          <a:stretch/>
        </p:blipFill>
        <p:spPr>
          <a:xfrm>
            <a:off x="10034963" y="421552"/>
            <a:ext cx="1397100" cy="41247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D2ECFC-F847-4962-877B-ADA1CB5E3A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7249" y="504326"/>
            <a:ext cx="2232305" cy="30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07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2997F20-B189-B49C-E508-4DC3AECE1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0508" y="0"/>
            <a:ext cx="12192000" cy="6858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843E47-0782-D5B0-9C3B-53674941830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23" y="5861623"/>
            <a:ext cx="3097098" cy="65063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5C9F83-9983-4164-A550-682CC692AF5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63081" y="6074242"/>
            <a:ext cx="2219417" cy="2935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FE055B-08C7-4D8F-B7BE-309AD44E84C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5975" y="5974616"/>
            <a:ext cx="1720025" cy="49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21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Объект 20"/>
          <p:cNvSpPr>
            <a:spLocks noGrp="1"/>
          </p:cNvSpPr>
          <p:nvPr>
            <p:ph sz="quarter" idx="10"/>
          </p:nvPr>
        </p:nvSpPr>
        <p:spPr>
          <a:xfrm>
            <a:off x="0" y="1076325"/>
            <a:ext cx="12192000" cy="5791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771315"/>
            <a:ext cx="11036301" cy="934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дзаголовок 2"/>
          <p:cNvSpPr txBox="1">
            <a:spLocks/>
          </p:cNvSpPr>
          <p:nvPr userDrawn="1"/>
        </p:nvSpPr>
        <p:spPr>
          <a:xfrm>
            <a:off x="590550" y="6246586"/>
            <a:ext cx="11601452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a-RU" sz="1800" dirty="0">
                <a:solidFill>
                  <a:schemeClr val="bg1">
                    <a:lumMod val="65000"/>
                  </a:schemeClr>
                </a:solidFill>
              </a:rPr>
              <a:t>Уфимский</a:t>
            </a:r>
            <a:r>
              <a:rPr lang="ba-RU" sz="1800" baseline="0" dirty="0">
                <a:solidFill>
                  <a:schemeClr val="bg1">
                    <a:lumMod val="65000"/>
                  </a:schemeClr>
                </a:solidFill>
              </a:rPr>
              <a:t> университет науки и технологий</a:t>
            </a:r>
            <a:endParaRPr lang="ru-RU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90549" y="267494"/>
            <a:ext cx="3610744" cy="42155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" y="771315"/>
            <a:ext cx="4351019" cy="93446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036301" y="155015"/>
            <a:ext cx="660399" cy="610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847" y="267494"/>
            <a:ext cx="435439" cy="4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6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771315"/>
            <a:ext cx="11036301" cy="934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90549" y="6241143"/>
            <a:ext cx="11601451" cy="391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дзаголовок 2"/>
          <p:cNvSpPr txBox="1">
            <a:spLocks/>
          </p:cNvSpPr>
          <p:nvPr userDrawn="1"/>
        </p:nvSpPr>
        <p:spPr>
          <a:xfrm>
            <a:off x="590548" y="6246586"/>
            <a:ext cx="142739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uust.ru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90549" y="267494"/>
            <a:ext cx="3610744" cy="42155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90548" y="1066800"/>
            <a:ext cx="11106152" cy="49107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" y="771315"/>
            <a:ext cx="4351019" cy="93446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2"/>
              </a:solidFill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036301" y="155015"/>
            <a:ext cx="660399" cy="6108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847" y="267494"/>
            <a:ext cx="435439" cy="4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2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01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0" r:id="rId2"/>
    <p:sldLayoutId id="2147483748" r:id="rId3"/>
    <p:sldLayoutId id="2147483741" r:id="rId4"/>
    <p:sldLayoutId id="2147483742" r:id="rId5"/>
    <p:sldLayoutId id="21474837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microsoft.com/office/2007/relationships/diagramDrawing" Target="../diagrams/drawing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18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17.png"/><Relationship Id="rId9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79036" y="283465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5" name="Google Shape;54;p13"/>
          <p:cNvSpPr txBox="1">
            <a:spLocks noGrp="1"/>
          </p:cNvSpPr>
          <p:nvPr/>
        </p:nvSpPr>
        <p:spPr>
          <a:xfrm>
            <a:off x="415600" y="1005905"/>
            <a:ext cx="11360800" cy="2423096"/>
          </a:xfrm>
          <a:prstGeom prst="rect">
            <a:avLst/>
          </a:prstGeom>
        </p:spPr>
        <p:txBody>
          <a:bodyPr vert="horz" wrap="square" lIns="121900" tIns="121900" rIns="121900" bIns="12190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МИНИСТЕРСТВО НАУКИ И ВЫСШЕГО ОБРАЗОВАНИЯ РОССИЙСКОЙ ФЕДЕРАЦИИ </a:t>
            </a:r>
            <a:br>
              <a:rPr lang="ru-RU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GB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ФЕДЕРАЛЬНОЕ ГОСУДАРСТВЕННОЕ БЮДЖЕТНОЕ</a:t>
            </a:r>
            <a:endParaRPr sz="1400" dirty="0">
              <a:solidFill>
                <a:srgbClr val="02020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ОБРАЗОВАТЕЛЬНОЕ УЧРЕЖДЕНИЕ ВЫСШЕГО ОБРАЗОВАНИЯ</a:t>
            </a:r>
            <a:endParaRPr sz="1400" dirty="0">
              <a:solidFill>
                <a:srgbClr val="02020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«УФИМСКИЙ УНИВЕРСИТЕТ НАУКИ И ТЕХНОЛОГИЙ»</a:t>
            </a:r>
            <a:endParaRPr sz="1400" dirty="0">
              <a:solidFill>
                <a:srgbClr val="02020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400" dirty="0">
              <a:solidFill>
                <a:srgbClr val="02020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ИНСТИТУТ ПРИРОДЫ И ЧЕЛОВЕКА</a:t>
            </a:r>
            <a:endParaRPr sz="1400" dirty="0">
              <a:solidFill>
                <a:srgbClr val="02020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КАФЕДРА БИОХИМИИ, БИОТЕХНОЛОГИИ</a:t>
            </a:r>
            <a:r>
              <a:rPr lang="ru-RU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И ФИЗИОЛОГИИ</a:t>
            </a:r>
            <a:endParaRPr sz="1400" dirty="0">
              <a:solidFill>
                <a:srgbClr val="02020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0"/>
              </a:spcBef>
            </a:pPr>
            <a:r>
              <a:rPr lang="en-GB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br>
              <a:rPr lang="ru-RU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1400" dirty="0">
              <a:solidFill>
                <a:srgbClr val="02020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0"/>
              </a:spcBef>
            </a:pPr>
            <a:r>
              <a:rPr lang="ru-RU" sz="1400" dirty="0">
                <a:solidFill>
                  <a:srgbClr val="02020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РАЗРАБОТКА ТЕХНОЛОГИИ ПЕРЕРАБОТКИ ПОСЛЕСПИРТОВОЙ БАРДЫ С ПОЛУЧЕНИЕМ КОРМОВ ДЛЯ КРУПНОГО РОГАТОГО СКОТА («СТАРТАП КАК ДИПЛОМ»)</a:t>
            </a:r>
            <a:endParaRPr lang="ru-RU" sz="1600" dirty="0">
              <a:solidFill>
                <a:srgbClr val="02020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354010" y="3511296"/>
            <a:ext cx="4641426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</a:t>
            </a:r>
          </a:p>
          <a:p>
            <a:r>
              <a:rPr lang="ru-RU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2 курса очной формы обучения</a:t>
            </a:r>
          </a:p>
          <a:p>
            <a:r>
              <a:rPr lang="ru-RU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Гаффарова</a:t>
            </a:r>
            <a:r>
              <a:rPr lang="ru-RU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Эльвина </a:t>
            </a:r>
            <a:r>
              <a:rPr lang="ru-RU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Рамилевна</a:t>
            </a:r>
            <a:endParaRPr lang="ru-RU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подготовки (специальность):</a:t>
            </a:r>
          </a:p>
          <a:p>
            <a:r>
              <a:rPr lang="ru-RU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19.04.01. Биотехнология </a:t>
            </a:r>
          </a:p>
          <a:p>
            <a:r>
              <a:rPr lang="ru-RU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Направленность (профиль): Промышленная биотехнология</a:t>
            </a:r>
          </a:p>
          <a:p>
            <a:endParaRPr lang="ru-RU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r>
              <a:rPr lang="ru-RU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к.б.н., доцент А.С. </a:t>
            </a:r>
            <a:r>
              <a:rPr lang="ru-RU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Григориади</a:t>
            </a:r>
            <a:endParaRPr lang="ru-RU" sz="1400" dirty="0"/>
          </a:p>
        </p:txBody>
      </p:sp>
      <p:sp>
        <p:nvSpPr>
          <p:cNvPr id="7" name="TextBox 3"/>
          <p:cNvSpPr txBox="1"/>
          <p:nvPr/>
        </p:nvSpPr>
        <p:spPr>
          <a:xfrm>
            <a:off x="5501702" y="5861261"/>
            <a:ext cx="1188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УФА</a:t>
            </a:r>
            <a:r>
              <a:rPr lang="ru-RU" sz="1400" dirty="0"/>
              <a:t> </a:t>
            </a:r>
            <a:r>
              <a:rPr lang="ru-RU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202</a:t>
            </a:r>
            <a:r>
              <a:rPr 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33742"/>
              </p:ext>
            </p:extLst>
          </p:nvPr>
        </p:nvGraphicFramePr>
        <p:xfrm>
          <a:off x="1119549" y="3511296"/>
          <a:ext cx="4238081" cy="1203580"/>
        </p:xfrm>
        <a:graphic>
          <a:graphicData uri="http://schemas.openxmlformats.org/drawingml/2006/table">
            <a:tbl>
              <a:tblPr firstRow="1" firstCol="1" bandRow="1"/>
              <a:tblGrid>
                <a:gridCol w="4238081">
                  <a:extLst>
                    <a:ext uri="{9D8B030D-6E8A-4147-A177-3AD203B41FA5}">
                      <a16:colId xmlns:a16="http://schemas.microsoft.com/office/drawing/2014/main" val="3496808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450215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Заведующий кафедрой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132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541020" indent="450215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Доктор биологических наук, профессор</a:t>
                      </a:r>
                    </a:p>
                    <a:p>
                      <a:pPr marL="0" indent="450215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Р.Г. Фархутдинов </a:t>
                      </a:r>
                    </a:p>
                    <a:p>
                      <a:pPr marL="0" indent="450215" algn="l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03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0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52299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590268" y="1058715"/>
            <a:ext cx="11106432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и актуальность проекта</a:t>
            </a:r>
          </a:p>
        </p:txBody>
      </p:sp>
      <p:sp>
        <p:nvSpPr>
          <p:cNvPr id="9" name="Подзаголовок 1"/>
          <p:cNvSpPr>
            <a:spLocks noGrp="1"/>
          </p:cNvSpPr>
          <p:nvPr>
            <p:ph type="subTitle" idx="1"/>
          </p:nvPr>
        </p:nvSpPr>
        <p:spPr>
          <a:xfrm>
            <a:off x="590269" y="1561296"/>
            <a:ext cx="11365512" cy="4674711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Проблема утилизации отходов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послеспиртовой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барды - одна из серьезнейших экологических и экономических задач РФ.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 проблем: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120-200 тыс. м³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послеспиртовой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барды образуется на одном заводе в год;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 40% себестоимости продукции спиртзаводов тратится на утилизацию барды (сушка, вывоз).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 существующих методов: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Традиционные  - дорогая (до 40% затрат) и энергозатратная;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Скармливание жидкой барды в чистом виде - нестабильный состав, быстрая порча, риск ацидоза у животных;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Традиционные комбикорма - высокая стоимость из-за использования зерна (цены растут);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Импортные белковые добавки (соевый шрот) - дороги (35-45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руб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/кг) и зависят от импорта.</a:t>
            </a:r>
            <a:endParaRPr lang="ru-RU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17C9D7-E861-6413-B1F0-E8F0907595D9}"/>
              </a:ext>
            </a:extLst>
          </p:cNvPr>
          <p:cNvSpPr txBox="1"/>
          <p:nvPr/>
        </p:nvSpPr>
        <p:spPr>
          <a:xfrm>
            <a:off x="11437620" y="5866675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710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8353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9" name="Подзаголовок 1"/>
          <p:cNvSpPr>
            <a:spLocks noGrp="1"/>
          </p:cNvSpPr>
          <p:nvPr>
            <p:ph type="subTitle" idx="1"/>
          </p:nvPr>
        </p:nvSpPr>
        <p:spPr>
          <a:xfrm>
            <a:off x="742586" y="1356096"/>
            <a:ext cx="11267009" cy="4814596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настоящей работы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являлась разработка технологии переработки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послеспиртовой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барды, костры льна, свекловичного жома, подсолнечного жмыха с применением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пробиотических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микроорганизмов для получения комбинированных кормов для крупного рогатого скота, обеспечивающих высокую питательную ценность, микробиологическую стабильность и экономическую эффективность.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поставленной цели необходимо решить следующие задачи: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состав комбикорма.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технологии получения товарной формы корма.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питательной ценности готовой формы комбикорма.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микробиологической чистоты готовой формы комбикорма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бизнес план</a:t>
            </a:r>
          </a:p>
          <a:p>
            <a:pPr lvl="0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903AE-96A7-F547-097C-294ECE39548A}"/>
              </a:ext>
            </a:extLst>
          </p:cNvPr>
          <p:cNvSpPr txBox="1"/>
          <p:nvPr/>
        </p:nvSpPr>
        <p:spPr>
          <a:xfrm>
            <a:off x="11277600" y="5801360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885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887724" y="121565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627295" y="1120894"/>
            <a:ext cx="11106432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 проекта</a:t>
            </a:r>
          </a:p>
        </p:txBody>
      </p:sp>
      <p:sp>
        <p:nvSpPr>
          <p:cNvPr id="9" name="Подзаголовок 1"/>
          <p:cNvSpPr>
            <a:spLocks noGrp="1"/>
          </p:cNvSpPr>
          <p:nvPr>
            <p:ph type="subTitle" idx="1"/>
          </p:nvPr>
        </p:nvSpPr>
        <p:spPr>
          <a:xfrm>
            <a:off x="627294" y="1707452"/>
            <a:ext cx="11286800" cy="4639560"/>
          </a:xfrm>
        </p:spPr>
        <p:txBody>
          <a:bodyPr>
            <a:normAutofit fontScale="70000" lnSpcReduction="2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Комбинированный корм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БарКорс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выпуска: Гранулы серо-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коричнего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цвета,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размером 1 см,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весом 0,5-2,5 г.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и функция компонентов: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Барда жидкая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послеспиртовая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Обеспечивает оптимальную влажность (62-65%) и распределение пробиотика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Барда сухая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послеспиртовая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Источник остаточных сахаров и витаминов группы 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Жом свекловичный - Источник пектина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легкоферментируемой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клетчатки; обеспечивает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буферность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рубцовой среды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Жмых подсолнечника - Источник сырого протеина (15-18%)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серусодержащих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аминокислот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Костра льна -  Структурирующий агент; предотвращает слёживание; связывает свободную влагу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Пробиотик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Propionibacterium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freudenreichii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Стабилизация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(4,8-5,2); подавление патогенной микрофлоры; продукция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пропионовой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кислоты и витамина B₁₂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Уникальность продукта заключается в комбинированном механизме действия и решает экологическую задачу утилизации крупнотоннажных отходов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CB125-A780-DEEC-2885-FBFD92F18536}"/>
              </a:ext>
            </a:extLst>
          </p:cNvPr>
          <p:cNvSpPr txBox="1"/>
          <p:nvPr/>
        </p:nvSpPr>
        <p:spPr>
          <a:xfrm>
            <a:off x="11277600" y="5801360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A052DD0-72EF-4143-BBEF-1116AF2D8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141" y="687308"/>
            <a:ext cx="3101937" cy="25145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780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8353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590268" y="1121237"/>
            <a:ext cx="11106432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производства</a:t>
            </a:r>
          </a:p>
        </p:txBody>
      </p:sp>
      <p:sp>
        <p:nvSpPr>
          <p:cNvPr id="9" name="Подзаголовок 1"/>
          <p:cNvSpPr>
            <a:spLocks noGrp="1"/>
          </p:cNvSpPr>
          <p:nvPr>
            <p:ph type="subTitle" idx="1"/>
          </p:nvPr>
        </p:nvSpPr>
        <p:spPr>
          <a:xfrm>
            <a:off x="590268" y="1641640"/>
            <a:ext cx="11106152" cy="3857756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производства защищается в режиме ноу-хау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(Know-How)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этапы производства включают: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234A4E-B44C-5FD1-DCA6-7B7EEEBF651E}"/>
              </a:ext>
            </a:extLst>
          </p:cNvPr>
          <p:cNvSpPr txBox="1"/>
          <p:nvPr/>
        </p:nvSpPr>
        <p:spPr>
          <a:xfrm>
            <a:off x="11838483" y="5852806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80BFB2E-D84D-4F8B-9565-702FF2CFF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62" y="2668479"/>
            <a:ext cx="1822477" cy="243134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D236652-2872-46EF-97CF-3C1B9BF21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670" y="2684798"/>
            <a:ext cx="1812305" cy="241502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4BBDE66-C89B-4DCF-B0E0-F9564BA7A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369" y="2668478"/>
            <a:ext cx="1822477" cy="243134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E215B548-BF02-46AF-B189-4D9468ACF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305" y="2668477"/>
            <a:ext cx="1822478" cy="2431342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720D303-8E22-4178-9C9B-A49E0AC1C2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032" y="2684798"/>
            <a:ext cx="1373787" cy="2445506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8E89F74-52FE-4E68-9897-B007F7A67E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8947" y="3092412"/>
            <a:ext cx="2108616" cy="1583471"/>
          </a:xfrm>
          <a:prstGeom prst="rect">
            <a:avLst/>
          </a:prstGeom>
        </p:spPr>
      </p:pic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79B4E660-57CF-4C81-B2F7-DE42C96EEC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2010169"/>
              </p:ext>
            </p:extLst>
          </p:nvPr>
        </p:nvGraphicFramePr>
        <p:xfrm>
          <a:off x="495580" y="4454001"/>
          <a:ext cx="11412138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29013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41E2A2B-3D32-4672-92E9-8F4852D3728A}"/>
              </a:ext>
            </a:extLst>
          </p:cNvPr>
          <p:cNvSpPr/>
          <p:nvPr/>
        </p:nvSpPr>
        <p:spPr>
          <a:xfrm>
            <a:off x="7046259" y="107576"/>
            <a:ext cx="4491317" cy="89832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CAA2C0-B35C-47BF-A199-9D7C611CE5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193" y="964131"/>
            <a:ext cx="11106432" cy="586557"/>
          </a:xfrm>
        </p:spPr>
        <p:txBody>
          <a:bodyPr/>
          <a:lstStyle/>
          <a:p>
            <a:r>
              <a:rPr lang="ru-RU" dirty="0"/>
              <a:t>Анализ питательной ценности готовой формы комбикорма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4C5A2-C591-4C72-B175-FB89B6128D84}"/>
              </a:ext>
            </a:extLst>
          </p:cNvPr>
          <p:cNvSpPr txBox="1"/>
          <p:nvPr/>
        </p:nvSpPr>
        <p:spPr>
          <a:xfrm>
            <a:off x="4141694" y="295724"/>
            <a:ext cx="716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4D19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4D19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9CB59006-978D-43F8-9E2D-BCE2DBE72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305024"/>
              </p:ext>
            </p:extLst>
          </p:nvPr>
        </p:nvGraphicFramePr>
        <p:xfrm>
          <a:off x="750161" y="1387476"/>
          <a:ext cx="10786646" cy="4825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93526">
                  <a:extLst>
                    <a:ext uri="{9D8B030D-6E8A-4147-A177-3AD203B41FA5}">
                      <a16:colId xmlns:a16="http://schemas.microsoft.com/office/drawing/2014/main" val="1616249075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3111834027"/>
                    </a:ext>
                  </a:extLst>
                </a:gridCol>
                <a:gridCol w="1766047">
                  <a:extLst>
                    <a:ext uri="{9D8B030D-6E8A-4147-A177-3AD203B41FA5}">
                      <a16:colId xmlns:a16="http://schemas.microsoft.com/office/drawing/2014/main" val="985157176"/>
                    </a:ext>
                  </a:extLst>
                </a:gridCol>
                <a:gridCol w="4797520">
                  <a:extLst>
                    <a:ext uri="{9D8B030D-6E8A-4147-A177-3AD203B41FA5}">
                      <a16:colId xmlns:a16="http://schemas.microsoft.com/office/drawing/2014/main" val="370674903"/>
                    </a:ext>
                  </a:extLst>
                </a:gridCol>
              </a:tblGrid>
              <a:tr h="582935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Наименование показателя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solidFill>
                            <a:srgbClr val="000000"/>
                          </a:solidFill>
                        </a:rPr>
                        <a:t>Ед.изм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Результат испытаний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НД на метод испытаний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483066"/>
                  </a:ext>
                </a:extLst>
              </a:tr>
              <a:tr h="77720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Массовая доля влаги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7,7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ГОСТ Р 57059-2016 - Корма, комбикорма, комбикормовое сырье. Экспресс-метод определения влаги, п.11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646121"/>
                  </a:ext>
                </a:extLst>
              </a:tr>
              <a:tr h="73633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Массовая доля сырого жира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8,6±0,8</a:t>
                      </a:r>
                    </a:p>
                    <a:p>
                      <a:pPr algn="ctr"/>
                      <a:endParaRPr lang="ru-RU" sz="20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ГОСТ 13496.15-2016 - Корма, комбикормовое сырье. Методы определения массовой доли сырого жира, п.9.1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537766"/>
                  </a:ext>
                </a:extLst>
              </a:tr>
              <a:tr h="73633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Массовая доля сырого протеина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15,0±0,5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ГОСТ 13496.4-2019 - Корма, комбикормовое сырье. Методы определения содержания азота и сырого протеина, п.8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456956"/>
                  </a:ext>
                </a:extLst>
              </a:tr>
              <a:tr h="951105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Массовая доля сырой клетчатки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2,9±1,0</a:t>
                      </a:r>
                    </a:p>
                    <a:p>
                      <a:pPr algn="ctr"/>
                      <a:endParaRPr lang="ru-RU" sz="20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ГОСТ 31675-2012 - Корма. Методы определения содержания сырой клетчатки с применением промежуточной фильтрации, п.6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037905"/>
                  </a:ext>
                </a:extLst>
              </a:tr>
              <a:tr h="73633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Содержание обменной энергии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МДж/кг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</a:rPr>
                        <a:t>Более 10,0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Методические указания по оценке качества и питательности кормов (утв. Минсельхозом России от 20.06.2002)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3687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82249C9-4EAD-43D2-AF3E-6A070187E111}"/>
              </a:ext>
            </a:extLst>
          </p:cNvPr>
          <p:cNvSpPr txBox="1"/>
          <p:nvPr/>
        </p:nvSpPr>
        <p:spPr>
          <a:xfrm>
            <a:off x="11788589" y="5924781"/>
            <a:ext cx="31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80811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EF1B83A-A053-4838-9A4A-876558677F5A}"/>
              </a:ext>
            </a:extLst>
          </p:cNvPr>
          <p:cNvSpPr/>
          <p:nvPr/>
        </p:nvSpPr>
        <p:spPr>
          <a:xfrm>
            <a:off x="7315200" y="392453"/>
            <a:ext cx="4381500" cy="60063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1B284A-F5E0-4547-AF17-68C05E8470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Анализ микробиологической чистоты готовой формы комбикорма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D47FB-4CB5-4AC1-A571-295475401FAA}"/>
              </a:ext>
            </a:extLst>
          </p:cNvPr>
          <p:cNvSpPr txBox="1"/>
          <p:nvPr/>
        </p:nvSpPr>
        <p:spPr>
          <a:xfrm>
            <a:off x="3863788" y="260563"/>
            <a:ext cx="6902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4D19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4D19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:a16="http://schemas.microsoft.com/office/drawing/2014/main" id="{A306617D-2029-4B1A-BB33-AD86DC112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339462"/>
              </p:ext>
            </p:extLst>
          </p:nvPr>
        </p:nvGraphicFramePr>
        <p:xfrm>
          <a:off x="959224" y="1856102"/>
          <a:ext cx="10228730" cy="429457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55687">
                  <a:extLst>
                    <a:ext uri="{9D8B030D-6E8A-4147-A177-3AD203B41FA5}">
                      <a16:colId xmlns:a16="http://schemas.microsoft.com/office/drawing/2014/main" val="1747945920"/>
                    </a:ext>
                  </a:extLst>
                </a:gridCol>
                <a:gridCol w="1635805">
                  <a:extLst>
                    <a:ext uri="{9D8B030D-6E8A-4147-A177-3AD203B41FA5}">
                      <a16:colId xmlns:a16="http://schemas.microsoft.com/office/drawing/2014/main" val="1582184477"/>
                    </a:ext>
                  </a:extLst>
                </a:gridCol>
                <a:gridCol w="2045746">
                  <a:extLst>
                    <a:ext uri="{9D8B030D-6E8A-4147-A177-3AD203B41FA5}">
                      <a16:colId xmlns:a16="http://schemas.microsoft.com/office/drawing/2014/main" val="2121852763"/>
                    </a:ext>
                  </a:extLst>
                </a:gridCol>
                <a:gridCol w="2045746">
                  <a:extLst>
                    <a:ext uri="{9D8B030D-6E8A-4147-A177-3AD203B41FA5}">
                      <a16:colId xmlns:a16="http://schemas.microsoft.com/office/drawing/2014/main" val="2804652677"/>
                    </a:ext>
                  </a:extLst>
                </a:gridCol>
                <a:gridCol w="2045746">
                  <a:extLst>
                    <a:ext uri="{9D8B030D-6E8A-4147-A177-3AD203B41FA5}">
                      <a16:colId xmlns:a16="http://schemas.microsoft.com/office/drawing/2014/main" val="927012924"/>
                    </a:ext>
                  </a:extLst>
                </a:gridCol>
              </a:tblGrid>
              <a:tr h="11337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Наименование показателя</a:t>
                      </a:r>
                    </a:p>
                    <a:p>
                      <a:pPr algn="ctr"/>
                      <a:endParaRPr lang="ru-RU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i="0" dirty="0">
                          <a:solidFill>
                            <a:srgbClr val="000000"/>
                          </a:solidFill>
                        </a:rPr>
                        <a:t>Норматив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0000"/>
                          </a:solidFill>
                        </a:rPr>
                        <a:t>Результат испытаний</a:t>
                      </a:r>
                    </a:p>
                    <a:p>
                      <a:pPr algn="ctr"/>
                      <a:endParaRPr lang="ru-RU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 err="1">
                          <a:solidFill>
                            <a:srgbClr val="000000"/>
                          </a:solidFill>
                        </a:rPr>
                        <a:t>Соответсвует</a:t>
                      </a:r>
                      <a:r>
                        <a:rPr lang="ru-RU" sz="2000" b="1" dirty="0">
                          <a:solidFill>
                            <a:srgbClr val="000000"/>
                          </a:solidFill>
                        </a:rPr>
                        <a:t>/ не соответствует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0000"/>
                          </a:solidFill>
                        </a:rPr>
                        <a:t>НД на метод испытаний</a:t>
                      </a:r>
                    </a:p>
                    <a:p>
                      <a:pPr algn="ctr"/>
                      <a:endParaRPr lang="ru-RU" sz="2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801965"/>
                  </a:ext>
                </a:extLst>
              </a:tr>
              <a:tr h="790202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ОМЧ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≤ 5,0 × 10⁵ КОЕ/г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1,0 × 10³ КОЕ/г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соответствует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ГОСТ 10444.15-94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95561"/>
                  </a:ext>
                </a:extLst>
              </a:tr>
              <a:tr h="790202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БГКП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не доп.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не </a:t>
                      </a:r>
                      <a:r>
                        <a:rPr lang="ru-RU" sz="2000" b="0" dirty="0" err="1">
                          <a:solidFill>
                            <a:srgbClr val="000000"/>
                          </a:solidFill>
                        </a:rPr>
                        <a:t>обн</a:t>
                      </a:r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соответствует</a:t>
                      </a:r>
                    </a:p>
                    <a:p>
                      <a:pPr algn="ctr"/>
                      <a:endParaRPr lang="ru-RU" sz="20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ГОСТ 31747-2012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410087"/>
                  </a:ext>
                </a:extLst>
              </a:tr>
              <a:tr h="790202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Сальмонеллы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не доп.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не </a:t>
                      </a:r>
                      <a:r>
                        <a:rPr lang="ru-RU" sz="2000" b="0" dirty="0" err="1">
                          <a:solidFill>
                            <a:srgbClr val="000000"/>
                          </a:solidFill>
                        </a:rPr>
                        <a:t>обн</a:t>
                      </a:r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соответствует</a:t>
                      </a:r>
                    </a:p>
                    <a:p>
                      <a:pPr algn="ctr"/>
                      <a:endParaRPr lang="ru-RU" sz="20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ГОСТ 31659-2012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409005"/>
                  </a:ext>
                </a:extLst>
              </a:tr>
              <a:tr h="790202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Плесень/дрожжи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&lt;1×10⁵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</a:rPr>
                        <a:t>×10</a:t>
                      </a:r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⁴</a:t>
                      </a:r>
                      <a:endParaRPr lang="en-US" sz="20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соответствует</a:t>
                      </a:r>
                    </a:p>
                    <a:p>
                      <a:pPr algn="ctr"/>
                      <a:endParaRPr lang="ru-RU" sz="20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solidFill>
                            <a:srgbClr val="000000"/>
                          </a:solidFill>
                        </a:rPr>
                        <a:t>ГОСТ Р ИСО 21527-1-2010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174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C6CFE47-E0BC-4605-A05B-AD53F2E5EC04}"/>
              </a:ext>
            </a:extLst>
          </p:cNvPr>
          <p:cNvSpPr txBox="1"/>
          <p:nvPr/>
        </p:nvSpPr>
        <p:spPr>
          <a:xfrm>
            <a:off x="11546541" y="5781345"/>
            <a:ext cx="519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3490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8353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318461" y="1189891"/>
            <a:ext cx="5222703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рынка и конкуренты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256686"/>
              </p:ext>
            </p:extLst>
          </p:nvPr>
        </p:nvGraphicFramePr>
        <p:xfrm>
          <a:off x="318461" y="1960370"/>
          <a:ext cx="11650046" cy="34629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3239">
                  <a:extLst>
                    <a:ext uri="{9D8B030D-6E8A-4147-A177-3AD203B41FA5}">
                      <a16:colId xmlns:a16="http://schemas.microsoft.com/office/drawing/2014/main" val="1357150401"/>
                    </a:ext>
                  </a:extLst>
                </a:gridCol>
                <a:gridCol w="2155371">
                  <a:extLst>
                    <a:ext uri="{9D8B030D-6E8A-4147-A177-3AD203B41FA5}">
                      <a16:colId xmlns:a16="http://schemas.microsoft.com/office/drawing/2014/main" val="244101334"/>
                    </a:ext>
                  </a:extLst>
                </a:gridCol>
                <a:gridCol w="2432958">
                  <a:extLst>
                    <a:ext uri="{9D8B030D-6E8A-4147-A177-3AD203B41FA5}">
                      <a16:colId xmlns:a16="http://schemas.microsoft.com/office/drawing/2014/main" val="2713387628"/>
                    </a:ext>
                  </a:extLst>
                </a:gridCol>
                <a:gridCol w="2841171">
                  <a:extLst>
                    <a:ext uri="{9D8B030D-6E8A-4147-A177-3AD203B41FA5}">
                      <a16:colId xmlns:a16="http://schemas.microsoft.com/office/drawing/2014/main" val="4088636618"/>
                    </a:ext>
                  </a:extLst>
                </a:gridCol>
                <a:gridCol w="2367307">
                  <a:extLst>
                    <a:ext uri="{9D8B030D-6E8A-4147-A177-3AD203B41FA5}">
                      <a16:colId xmlns:a16="http://schemas.microsoft.com/office/drawing/2014/main" val="1353071477"/>
                    </a:ext>
                  </a:extLst>
                </a:gridCol>
              </a:tblGrid>
              <a:tr h="768818"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ru-RU" sz="20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БарКорс</a:t>
                      </a: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ru-RU" sz="20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АгроКорм</a:t>
                      </a: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«Зерно-Стандарт»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Импортные аналоги (соевый шрот)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923857"/>
                  </a:ext>
                </a:extLst>
              </a:tr>
              <a:tr h="445427"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 (</a:t>
                      </a:r>
                      <a:r>
                        <a:rPr lang="ru-RU" sz="20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руб</a:t>
                      </a: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/кг)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15-20 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25-30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35-45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249748"/>
                  </a:ext>
                </a:extLst>
              </a:tr>
              <a:tr h="445427"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Комбинированный корм с пробиотиком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Традиционный комбикорм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Белково-витаминная добавка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Соевые бобы (импорт)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82621"/>
                  </a:ext>
                </a:extLst>
              </a:tr>
              <a:tr h="768818">
                <a:tc>
                  <a:txBody>
                    <a:bodyPr/>
                    <a:lstStyle/>
                    <a:p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сезонный фактор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стоимость зерновой составляющей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Импортозависимость</a:t>
                      </a:r>
                      <a:endParaRPr lang="ru-RU" sz="2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высокая цена, импорт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6262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628560-7795-5571-8E01-BE90B9397A36}"/>
              </a:ext>
            </a:extLst>
          </p:cNvPr>
          <p:cNvSpPr txBox="1"/>
          <p:nvPr/>
        </p:nvSpPr>
        <p:spPr>
          <a:xfrm>
            <a:off x="11277600" y="5801360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16663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8353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6133874" y="1068816"/>
            <a:ext cx="4550899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 модель и рынки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765F62-3090-4FF2-8396-2B93EA9B4F78}"/>
              </a:ext>
            </a:extLst>
          </p:cNvPr>
          <p:cNvSpPr txBox="1"/>
          <p:nvPr/>
        </p:nvSpPr>
        <p:spPr>
          <a:xfrm>
            <a:off x="11277600" y="5801360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C6D9024-3188-499A-BF0C-59A36659A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60" y="1283913"/>
            <a:ext cx="4838700" cy="481012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7859DC0-20AB-4AD6-9CCB-90E816EA5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508" y="1764648"/>
            <a:ext cx="4334632" cy="1664352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FE8ED88-82A6-41E5-B527-3EB8C62F3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812" y="5153635"/>
            <a:ext cx="2773920" cy="62794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EF0B4A1-5BF0-47EF-B66A-3E881096F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8075" y="3688975"/>
            <a:ext cx="2993395" cy="14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6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8353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590268" y="1095773"/>
            <a:ext cx="11106432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 показатели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78648"/>
              </p:ext>
            </p:extLst>
          </p:nvPr>
        </p:nvGraphicFramePr>
        <p:xfrm>
          <a:off x="1425388" y="1682329"/>
          <a:ext cx="9556377" cy="407989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238565">
                  <a:extLst>
                    <a:ext uri="{9D8B030D-6E8A-4147-A177-3AD203B41FA5}">
                      <a16:colId xmlns:a16="http://schemas.microsoft.com/office/drawing/2014/main" val="2901905400"/>
                    </a:ext>
                  </a:extLst>
                </a:gridCol>
                <a:gridCol w="2317812">
                  <a:extLst>
                    <a:ext uri="{9D8B030D-6E8A-4147-A177-3AD203B41FA5}">
                      <a16:colId xmlns:a16="http://schemas.microsoft.com/office/drawing/2014/main" val="2172464959"/>
                    </a:ext>
                  </a:extLst>
                </a:gridCol>
              </a:tblGrid>
              <a:tr h="6315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838531"/>
                  </a:ext>
                </a:extLst>
              </a:tr>
              <a:tr h="5564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Объем производства, кг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1 250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9356845"/>
                  </a:ext>
                </a:extLst>
              </a:tr>
              <a:tr h="4819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 реализации (с НДС), руб./кг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18,00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2384974"/>
                  </a:ext>
                </a:extLst>
              </a:tr>
              <a:tr h="4819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Выручка (с НДС), руб.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22 500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0867203"/>
                  </a:ext>
                </a:extLst>
              </a:tr>
              <a:tr h="4819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Выручка (без НДС), руб.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18 750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9542182"/>
                  </a:ext>
                </a:extLst>
              </a:tr>
              <a:tr h="4819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Полная себестоимость, руб.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14 375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7083284"/>
                  </a:ext>
                </a:extLst>
              </a:tr>
              <a:tr h="4819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Валовая прибыль, руб.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4 375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6270731"/>
                  </a:ext>
                </a:extLst>
              </a:tr>
              <a:tr h="4819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Рентабельность продукции, %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94302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E852B2-87D5-2EC2-97CC-8C215AF1E41D}"/>
              </a:ext>
            </a:extLst>
          </p:cNvPr>
          <p:cNvSpPr txBox="1"/>
          <p:nvPr/>
        </p:nvSpPr>
        <p:spPr>
          <a:xfrm>
            <a:off x="11277600" y="5801360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2626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8353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737118" y="1137758"/>
            <a:ext cx="11106432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рисков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040105"/>
              </p:ext>
            </p:extLst>
          </p:nvPr>
        </p:nvGraphicFramePr>
        <p:xfrm>
          <a:off x="737118" y="1640340"/>
          <a:ext cx="11178074" cy="447081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70988">
                  <a:extLst>
                    <a:ext uri="{9D8B030D-6E8A-4147-A177-3AD203B41FA5}">
                      <a16:colId xmlns:a16="http://schemas.microsoft.com/office/drawing/2014/main" val="1827049464"/>
                    </a:ext>
                  </a:extLst>
                </a:gridCol>
                <a:gridCol w="1056290">
                  <a:extLst>
                    <a:ext uri="{9D8B030D-6E8A-4147-A177-3AD203B41FA5}">
                      <a16:colId xmlns:a16="http://schemas.microsoft.com/office/drawing/2014/main" val="1058242453"/>
                    </a:ext>
                  </a:extLst>
                </a:gridCol>
                <a:gridCol w="6650796">
                  <a:extLst>
                    <a:ext uri="{9D8B030D-6E8A-4147-A177-3AD203B41FA5}">
                      <a16:colId xmlns:a16="http://schemas.microsoft.com/office/drawing/2014/main" val="662827647"/>
                    </a:ext>
                  </a:extLst>
                </a:gridCol>
              </a:tblGrid>
              <a:tr h="6673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риска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Интегральный</a:t>
                      </a:r>
                      <a:r>
                        <a:rPr lang="ru-RU" sz="2000" b="1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</a:t>
                      </a: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ровень</a:t>
                      </a: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Мероприятия по </a:t>
                      </a:r>
                      <a:r>
                        <a:rPr lang="ru-RU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минимализации</a:t>
                      </a:r>
                      <a:endParaRPr lang="ru-RU" sz="20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extLst>
                  <a:ext uri="{0D108BD9-81ED-4DB2-BD59-A6C34878D82A}">
                    <a16:rowId xmlns:a16="http://schemas.microsoft.com/office/drawing/2014/main" val="4212860169"/>
                  </a:ext>
                </a:extLst>
              </a:tr>
              <a:tr h="6673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Перебои в поставках сырья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Формирование страхового запаса на 2-3 месяца; заключение долгосрочных договоров с несколькими поставщиками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extLst>
                  <a:ext uri="{0D108BD9-81ED-4DB2-BD59-A6C34878D82A}">
                    <a16:rowId xmlns:a16="http://schemas.microsoft.com/office/drawing/2014/main" val="529872675"/>
                  </a:ext>
                </a:extLst>
              </a:tr>
              <a:tr h="53388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из строя оборудования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План регулярного технического</a:t>
                      </a:r>
                      <a:r>
                        <a:rPr lang="ru-RU" sz="20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обслуживания; </a:t>
                      </a: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резервный фонд на ремонт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extLst>
                  <a:ext uri="{0D108BD9-81ED-4DB2-BD59-A6C34878D82A}">
                    <a16:rowId xmlns:a16="http://schemas.microsoft.com/office/drawing/2014/main" val="840166374"/>
                  </a:ext>
                </a:extLst>
              </a:tr>
              <a:tr h="6673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конкуренция (дешевые аналоги)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Акцент на уникальные преимущества (утилизация отходов + пробиотик); публикация результатов испытаний; сертификация продукта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extLst>
                  <a:ext uri="{0D108BD9-81ED-4DB2-BD59-A6C34878D82A}">
                    <a16:rowId xmlns:a16="http://schemas.microsoft.com/office/drawing/2014/main" val="3527371115"/>
                  </a:ext>
                </a:extLst>
              </a:tr>
              <a:tr h="53388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Недостаточная узнаваемость бренда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сайта; участие в тендерах; перспективная рекламная кампания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extLst>
                  <a:ext uri="{0D108BD9-81ED-4DB2-BD59-A6C34878D82A}">
                    <a16:rowId xmlns:a16="http://schemas.microsoft.com/office/drawing/2014/main" val="1444562551"/>
                  </a:ext>
                </a:extLst>
              </a:tr>
              <a:tr h="42009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Сезонность спроса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Развитие дополнительных каналов сбыта (мелкие фермерские хозяйства)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20" marR="38120" marT="0" marB="0"/>
                </a:tc>
                <a:extLst>
                  <a:ext uri="{0D108BD9-81ED-4DB2-BD59-A6C34878D82A}">
                    <a16:rowId xmlns:a16="http://schemas.microsoft.com/office/drawing/2014/main" val="17017536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4C6B02-971C-2266-90C5-52C901DC543A}"/>
              </a:ext>
            </a:extLst>
          </p:cNvPr>
          <p:cNvSpPr txBox="1"/>
          <p:nvPr/>
        </p:nvSpPr>
        <p:spPr>
          <a:xfrm>
            <a:off x="11437620" y="5829961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26744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8353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590268" y="1269546"/>
            <a:ext cx="11106432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проекта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842374"/>
              </p:ext>
            </p:extLst>
          </p:nvPr>
        </p:nvGraphicFramePr>
        <p:xfrm>
          <a:off x="665281" y="1771216"/>
          <a:ext cx="11287600" cy="428570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2535643">
                  <a:extLst>
                    <a:ext uri="{9D8B030D-6E8A-4147-A177-3AD203B41FA5}">
                      <a16:colId xmlns:a16="http://schemas.microsoft.com/office/drawing/2014/main" val="1446975741"/>
                    </a:ext>
                  </a:extLst>
                </a:gridCol>
                <a:gridCol w="8751957">
                  <a:extLst>
                    <a:ext uri="{9D8B030D-6E8A-4147-A177-3AD203B41FA5}">
                      <a16:colId xmlns:a16="http://schemas.microsoft.com/office/drawing/2014/main" val="3479193121"/>
                    </a:ext>
                  </a:extLst>
                </a:gridCol>
              </a:tblGrid>
              <a:tr h="32022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ФИО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Основные функциональные обязанности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8708997"/>
                  </a:ext>
                </a:extLst>
              </a:tr>
              <a:tr h="100303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Гаффарова</a:t>
                      </a:r>
                      <a:r>
                        <a:rPr lang="ru-RU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Эльвина </a:t>
                      </a:r>
                      <a:r>
                        <a:rPr lang="ru-RU" sz="18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Рамилевна</a:t>
                      </a:r>
                      <a:endParaRPr lang="ru-RU" sz="18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Стратегическое планирование, координация работы команды, взаимодействие с партнерами и инвесторами, принятие управленческих решений, контроль за исполнением календарного плана.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613773"/>
                  </a:ext>
                </a:extLst>
              </a:tr>
              <a:tr h="83211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Фархутдинов Рашит </a:t>
                      </a:r>
                      <a:r>
                        <a:rPr lang="ru-RU" sz="20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Габдулхаевич</a:t>
                      </a:r>
                      <a:endParaRPr lang="ru-RU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Осуществление общего научного руководства, контроль качества продукции на соответствие техническим условиям, разработка рекомендаций по совершенствованию технологии.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3274397"/>
                  </a:ext>
                </a:extLst>
              </a:tr>
              <a:tr h="100303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Григориади</a:t>
                      </a:r>
                      <a:r>
                        <a:rPr lang="ru-RU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Анна Сергеевна</a:t>
                      </a:r>
                    </a:p>
                  </a:txBody>
                  <a:tcPr marL="68580" marR="68580" marT="0" marB="0"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Консультант, контроль качества продукции на соответствие микробиологическим требованиям.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772366"/>
                  </a:ext>
                </a:extLst>
              </a:tr>
              <a:tr h="100303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Черво Алексей Юрьевич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Обеспечение бесперебойной работы технологического оборудования, контроль технологических параметров процесса гранулирования.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49593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C2F939-CA52-DBB1-024C-949B9DFD40D6}"/>
              </a:ext>
            </a:extLst>
          </p:cNvPr>
          <p:cNvSpPr txBox="1"/>
          <p:nvPr/>
        </p:nvSpPr>
        <p:spPr>
          <a:xfrm>
            <a:off x="11405586" y="5687589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66319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8353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819" y="2855167"/>
            <a:ext cx="2857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Партнеры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2C6AF-1129-CD42-2600-3FC739EC37A7}"/>
              </a:ext>
            </a:extLst>
          </p:cNvPr>
          <p:cNvSpPr txBox="1"/>
          <p:nvPr/>
        </p:nvSpPr>
        <p:spPr>
          <a:xfrm>
            <a:off x="97659" y="6303385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2CBB2D-8477-4A52-837E-95A6F5003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06" y="98247"/>
            <a:ext cx="4192522" cy="665529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680516-C4BD-4B5A-8825-8D797BDDD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28" y="0"/>
            <a:ext cx="43846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661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1539" y="27781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565279" y="1270571"/>
            <a:ext cx="11106432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Календарный план реализации проекта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БарКорс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332587"/>
              </p:ext>
            </p:extLst>
          </p:nvPr>
        </p:nvGraphicFramePr>
        <p:xfrm>
          <a:off x="565279" y="1799683"/>
          <a:ext cx="11271380" cy="437100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26484">
                  <a:extLst>
                    <a:ext uri="{9D8B030D-6E8A-4147-A177-3AD203B41FA5}">
                      <a16:colId xmlns:a16="http://schemas.microsoft.com/office/drawing/2014/main" val="385466437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02988530"/>
                    </a:ext>
                  </a:extLst>
                </a:gridCol>
                <a:gridCol w="7244496">
                  <a:extLst>
                    <a:ext uri="{9D8B030D-6E8A-4147-A177-3AD203B41FA5}">
                      <a16:colId xmlns:a16="http://schemas.microsoft.com/office/drawing/2014/main" val="2414692102"/>
                    </a:ext>
                  </a:extLst>
                </a:gridCol>
              </a:tblGrid>
              <a:tr h="30518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Этап 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Сроки</a:t>
                      </a:r>
                      <a:endParaRPr lang="ru-RU" sz="2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extLst>
                  <a:ext uri="{0D108BD9-81ED-4DB2-BD59-A6C34878D82A}">
                    <a16:rowId xmlns:a16="http://schemas.microsoft.com/office/drawing/2014/main" val="2929830853"/>
                  </a:ext>
                </a:extLst>
              </a:tr>
              <a:tr h="83861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Ноябрь 2025 - январь 2026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Регистрация</a:t>
                      </a:r>
                      <a:r>
                        <a:rPr lang="ru-RU" sz="20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ООО</a:t>
                      </a: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заключение предварительных договоров с поставщиками.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extLst>
                  <a:ext uri="{0D108BD9-81ED-4DB2-BD59-A6C34878D82A}">
                    <a16:rowId xmlns:a16="http://schemas.microsoft.com/office/drawing/2014/main" val="2681900605"/>
                  </a:ext>
                </a:extLst>
              </a:tr>
              <a:tr h="38894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Февраль - март 2026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Закупка и монтаж оборудования, формирование штата.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extLst>
                  <a:ext uri="{0D108BD9-81ED-4DB2-BD59-A6C34878D82A}">
                    <a16:rowId xmlns:a16="http://schemas.microsoft.com/office/drawing/2014/main" val="2377272771"/>
                  </a:ext>
                </a:extLst>
              </a:tr>
              <a:tr h="85203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Апрель - июль 2026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Закупка сырья, приготовление гранулированной смеси, внесение пробиотика </a:t>
                      </a:r>
                      <a:r>
                        <a:rPr lang="ru-RU" sz="20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Propionibacterium </a:t>
                      </a:r>
                      <a:r>
                        <a:rPr lang="ru-RU" sz="2000" i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freudenreichii</a:t>
                      </a: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ферментация, гранулирование, сушка; лабораторные и зоотехнические испытания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extLst>
                  <a:ext uri="{0D108BD9-81ED-4DB2-BD59-A6C34878D82A}">
                    <a16:rowId xmlns:a16="http://schemas.microsoft.com/office/drawing/2014/main" val="3900258829"/>
                  </a:ext>
                </a:extLst>
              </a:tr>
              <a:tr h="77788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Август - декабрь 2026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Выход</a:t>
                      </a:r>
                      <a:r>
                        <a:rPr lang="ru-RU" sz="20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рынок, пилотные договоры, участие в тендерах.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extLst>
                  <a:ext uri="{0D108BD9-81ED-4DB2-BD59-A6C34878D82A}">
                    <a16:rowId xmlns:a16="http://schemas.microsoft.com/office/drawing/2014/main" val="1964486127"/>
                  </a:ext>
                </a:extLst>
              </a:tr>
              <a:tr h="77788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2027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Выход</a:t>
                      </a:r>
                      <a:r>
                        <a:rPr lang="ru-RU" sz="20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на плановую мощность и окупаемость.</a:t>
                      </a:r>
                      <a:endParaRPr lang="ru-RU" sz="2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6" marR="46206" marT="0" marB="0"/>
                </a:tc>
                <a:extLst>
                  <a:ext uri="{0D108BD9-81ED-4DB2-BD59-A6C34878D82A}">
                    <a16:rowId xmlns:a16="http://schemas.microsoft.com/office/drawing/2014/main" val="17594714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42680E-183B-4C1A-516D-F1F46D4BD875}"/>
              </a:ext>
            </a:extLst>
          </p:cNvPr>
          <p:cNvSpPr txBox="1"/>
          <p:nvPr/>
        </p:nvSpPr>
        <p:spPr>
          <a:xfrm>
            <a:off x="11277600" y="5801360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341206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8353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3392424" y="817150"/>
            <a:ext cx="8654920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и перспективы</a:t>
            </a:r>
          </a:p>
        </p:txBody>
      </p:sp>
      <p:sp>
        <p:nvSpPr>
          <p:cNvPr id="9" name="Подзаголовок 1"/>
          <p:cNvSpPr>
            <a:spLocks noGrp="1"/>
          </p:cNvSpPr>
          <p:nvPr>
            <p:ph type="subTitle" idx="1"/>
          </p:nvPr>
        </p:nvSpPr>
        <p:spPr>
          <a:xfrm>
            <a:off x="580938" y="1196958"/>
            <a:ext cx="11466406" cy="3489804"/>
          </a:xfrm>
        </p:spPr>
        <p:txBody>
          <a:bodyPr>
            <a:no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итоги работы: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состав комбикорма (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послеспиртовая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барда жидкая и сухая, свекловичный жом, костра льна, жмых подсолнечника, пробиотик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Propionibacterium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freudenreichii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технология получения гранулированного корма для крупного рогатого скота «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БарКорс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включающая стадии подготовки сырья, измельчения, смешивания, гранулирования, сушки, обогащения пробиотиком, сушки и упаковки.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питательной ценности готовой формы комбикорма подтвердил высокую питательную ценность разработанного корма (содержание сырого жира 8,6%, сырого протеина - 15%) и соответствие заявленным в рецептуре параметрам.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микробиологической чистоты показал, что готовая форма комбикорма соответствует требованиям, предъявляемым к качеству корма, и является безопасным.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бизнес-план с рентабельностью 30% и окупаемостью 5 месяцев; Проект признан на федеральном уровне (грант ФСИ 1 млн. руб.)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Масштабирование производства.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рынка.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2A149-3FC2-FC1E-F7F5-D6AF2800A118}"/>
              </a:ext>
            </a:extLst>
          </p:cNvPr>
          <p:cNvSpPr txBox="1"/>
          <p:nvPr/>
        </p:nvSpPr>
        <p:spPr>
          <a:xfrm>
            <a:off x="11277600" y="5801360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35620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92424" y="283530"/>
            <a:ext cx="8304276" cy="722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ПРИРОДЫ И ЧЕЛОВЕКА. </a:t>
            </a:r>
          </a:p>
          <a:p>
            <a:pPr algn="ctr"/>
            <a:r>
              <a:rPr lang="ru-RU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БИОХИМИИ, БИОТЕХНОЛОГИИ И ФИЗИОЛОГИИ.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3"/>
          </p:nvPr>
        </p:nvSpPr>
        <p:spPr>
          <a:xfrm>
            <a:off x="860856" y="1390844"/>
            <a:ext cx="4849479" cy="58655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9" name="Подзаголовок 1"/>
          <p:cNvSpPr>
            <a:spLocks noGrp="1"/>
          </p:cNvSpPr>
          <p:nvPr>
            <p:ph type="subTitle" idx="1"/>
          </p:nvPr>
        </p:nvSpPr>
        <p:spPr>
          <a:xfrm>
            <a:off x="860856" y="2231712"/>
            <a:ext cx="5119787" cy="3857756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Контактная информация: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ООО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БарКорс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ОГРН: 1258600011427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Телефон: 89173437458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gaffarova2002@list.ru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www.barkors.ru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F2A149-3FC2-FC1E-F7F5-D6AF2800A118}"/>
              </a:ext>
            </a:extLst>
          </p:cNvPr>
          <p:cNvSpPr txBox="1"/>
          <p:nvPr/>
        </p:nvSpPr>
        <p:spPr>
          <a:xfrm>
            <a:off x="11277600" y="5801360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649293-EB9E-4709-BAC8-486594A782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965" y="1125071"/>
            <a:ext cx="2859741" cy="42896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E250DFF-3312-4B2C-8E62-B38BC1BFAF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345" y="1967810"/>
            <a:ext cx="4369185" cy="291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37464"/>
      </p:ext>
    </p:extLst>
  </p:cSld>
  <p:clrMapOvr>
    <a:masterClrMapping/>
  </p:clrMapOvr>
</p:sld>
</file>

<file path=ppt/theme/theme1.xml><?xml version="1.0" encoding="utf-8"?>
<a:theme xmlns:a="http://schemas.openxmlformats.org/drawingml/2006/main" name="УУНиТ 1">
  <a:themeElements>
    <a:clrScheme name="УУНиТ">
      <a:dk1>
        <a:srgbClr val="2A1468"/>
      </a:dk1>
      <a:lt1>
        <a:srgbClr val="FFFFFF"/>
      </a:lt1>
      <a:dk2>
        <a:srgbClr val="CBB8FF"/>
      </a:dk2>
      <a:lt2>
        <a:srgbClr val="FFFFFF"/>
      </a:lt2>
      <a:accent1>
        <a:srgbClr val="4D19CC"/>
      </a:accent1>
      <a:accent2>
        <a:srgbClr val="C1F26B"/>
      </a:accent2>
      <a:accent3>
        <a:srgbClr val="FFA039"/>
      </a:accent3>
      <a:accent4>
        <a:srgbClr val="EA591F"/>
      </a:accent4>
      <a:accent5>
        <a:srgbClr val="F9D84B"/>
      </a:accent5>
      <a:accent6>
        <a:srgbClr val="00BC7D"/>
      </a:accent6>
      <a:hlink>
        <a:srgbClr val="4D19CC"/>
      </a:hlink>
      <a:folHlink>
        <a:srgbClr val="000000"/>
      </a:folHlink>
    </a:clrScheme>
    <a:fontScheme name="Golos">
      <a:majorFont>
        <a:latin typeface="Golos Text DemiBold"/>
        <a:ea typeface=""/>
        <a:cs typeface=""/>
      </a:majorFont>
      <a:minorFont>
        <a:latin typeface="Golo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УУНиТ" id="{F59AB681-219E-438F-B162-AF29A19CA93F}" vid="{5846A7CC-7BEB-4586-A9FC-8BB7BA43975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template-presentation</Template>
  <TotalTime>2155</TotalTime>
  <Words>1456</Words>
  <Application>Microsoft Office PowerPoint</Application>
  <PresentationFormat>Широкоэкранный</PresentationFormat>
  <Paragraphs>266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Golos Text</vt:lpstr>
      <vt:lpstr>Golos Text DemiBold</vt:lpstr>
      <vt:lpstr>Times New Roman</vt:lpstr>
      <vt:lpstr>Wingdings</vt:lpstr>
      <vt:lpstr>УУНиТ 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</dc:title>
  <dc:creator>Галимова Диана Ириковна</dc:creator>
  <cp:lastModifiedBy>gaffarova2002@list.ru</cp:lastModifiedBy>
  <cp:revision>106</cp:revision>
  <dcterms:created xsi:type="dcterms:W3CDTF">2025-03-17T08:38:40Z</dcterms:created>
  <dcterms:modified xsi:type="dcterms:W3CDTF">2026-06-17T19:07:48Z</dcterms:modified>
</cp:coreProperties>
</file>